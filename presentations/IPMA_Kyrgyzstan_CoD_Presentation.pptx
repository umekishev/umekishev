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3035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>
                <a:solidFill>
                  <a:srgbClr val="E30613"/>
                </a:solidFill>
                <a:latin typeface="Calibri"/>
              </a:rPr>
              <a:t>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E0A0"/>
                </a:solidFill>
                <a:latin typeface="Calibri"/>
              </a:rPr>
              <a:t>IPMA  ·  COUNCIL OF DELEGATES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6400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IPMA Kyrgyz
Republic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CD0DF"/>
                </a:solidFill>
                <a:latin typeface="Calibri"/>
              </a:rPr>
              <a:t>Кыргызское объединение управления проектами (KgPMU) — Ассоциация-заявитель IPMA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C4"/>
                </a:solidFill>
                <a:latin typeface="Calibri"/>
              </a:rPr>
              <a:t>Представляет: Урмат Мекишев, Президент</a:t>
            </a:r>
          </a:p>
        </p:txBody>
      </p:sp>
      <p:pic>
        <p:nvPicPr>
          <p:cNvPr id="8" name="Picture 7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11680"/>
            <a:ext cx="4389120" cy="12828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FA6B8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FA6B8"/>
                </a:solidFill>
                <a:latin typeface="Calibri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02  » 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Кто 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ПРЕЗИДЕНТ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Мекишев Урмат Казбекович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Сертифицированный эксперт IPMA. Более 15 лет опыта в управлении крупными инфраструктурными проектами. Инициатор внедрения ICB4 в госсекторе и бизнесе КР.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554480"/>
            <a:ext cx="54864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783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ПОЧЁТНЫЙ ЧЛЕН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21945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Бабаев Игбал Алиджанович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79" y="292608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Д.т.н., профессор, президент Азербайджанской ассоциации УП. Поддерживает развитие проектной культуры в Кыргызстане и регионе.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E0A0"/>
                </a:solidFill>
                <a:latin typeface="Calibri"/>
              </a:rPr>
              <a:t>03  »  МИССИЯ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Наша миссия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Создавать экосистему компетентных проектных лидеров и повышать зрелость управления проектами через образование, сертификацию и обмен практиками по стандартам IPMA ICB4.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FA6B8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FA6B8"/>
                </a:solidFill>
                <a:latin typeface="Calibr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04  »  ЦЕННОСТИ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Принципы KgPMU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Честность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Прозрачность и этика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55448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399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399" y="2468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Профессионализм мирового уровня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Уважение и доверие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Независимость оценки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365760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399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Открытость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399" y="4572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Международные практики на пользу КР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05  » 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Стратегическое положение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743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223B"/>
                </a:solidFill>
                <a:latin typeface="Calibri"/>
              </a:rPr>
              <a:t>≈200 тыс. км²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517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C6B72"/>
                </a:solidFill>
                <a:latin typeface="Calibri"/>
              </a:rPr>
              <a:t>Площадь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743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223B"/>
                </a:solidFill>
                <a:latin typeface="Calibri"/>
              </a:rPr>
              <a:t>≈7,4 млн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6517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C6B72"/>
                </a:solidFill>
                <a:latin typeface="Calibri"/>
              </a:rPr>
              <a:t>Население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554480"/>
            <a:ext cx="2743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19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223B"/>
                </a:solidFill>
                <a:latin typeface="Calibri"/>
              </a:rPr>
              <a:t>Бишкек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19" y="26517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C6B72"/>
                </a:solidFill>
                <a:latin typeface="Calibri"/>
              </a:rPr>
              <a:t>Штаб-квартира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1554480"/>
            <a:ext cx="2743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79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223B"/>
                </a:solidFill>
                <a:latin typeface="Calibri"/>
              </a:rPr>
              <a:t>ЕАЭС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79" y="26517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C6B72"/>
                </a:solidFill>
                <a:latin typeface="Calibri"/>
              </a:rPr>
              <a:t>Единое пространство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40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8394A"/>
                </a:solidFill>
                <a:latin typeface="Calibri"/>
              </a:rPr>
              <a:t>Центральная Азия — пересечение маршрутов ЕАЭС и Большого Шёлкового пути.
Отрасли: госуправление · строительство · IT · инфраструктура · цифровизация · медицина и НПО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06  »  ПУТЬ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Что уже сделано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6424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9E44"/>
                </a:solidFill>
                <a:latin typeface="Calibri"/>
              </a:rPr>
              <a:t>апр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69164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D223B"/>
                </a:solidFill>
                <a:latin typeface="Calibri"/>
              </a:rPr>
              <a:t>Регистрация в Минюсте КР — ОО KgPMU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9E44"/>
                </a:solidFill>
                <a:latin typeface="Calibri"/>
              </a:rPr>
              <a:t>июн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78892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D223B"/>
                </a:solidFill>
                <a:latin typeface="Calibri"/>
              </a:rPr>
              <a:t>Пакет документов направлен в IPMA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80"/>
            <a:ext cx="1106424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86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9E44"/>
                </a:solidFill>
                <a:latin typeface="Calibri"/>
              </a:rPr>
              <a:t>июл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8862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D223B"/>
                </a:solidFill>
                <a:latin typeface="Calibri"/>
              </a:rPr>
              <a:t>Статус «Ассоциация-заявитель» (Applying MA)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09159"/>
            <a:ext cx="1106424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98347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9E44"/>
                </a:solidFill>
                <a:latin typeface="Calibri"/>
              </a:rPr>
              <a:t>окт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983479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D223B"/>
                </a:solidFill>
                <a:latin typeface="Calibri"/>
              </a:rPr>
              <a:t>План: Full MA + запуск сертификации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07  »  СТРАТЕГИЯ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Стратегические цели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Перейти от Ассоциации-заявителя к Full Member Association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Создать независимый национальный CB по системе IPMA 4-L-C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Рост членской базы: индивидуальное, студенческое, корпоративное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Продвигать ICB4 / OCB / PEB в госсекторе и бизнесе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Партнёрства с вузами, госорганами и бизнес-сообществом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Сотрудничество с MA Центральной Азии и ЕАЭС · запуск Young Crew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08  »  СЕРТИФИКАЦИЯ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Certification Body · уровни IPMA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6B72"/>
                </a:solidFill>
                <a:latin typeface="Calibri"/>
              </a:rPr>
              <a:t>Независимый CB по 4-L-C. Оценка по ICB4: самооценка, экзамен, интервью.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274320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F9E44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223B"/>
                </a:solidFill>
                <a:latin typeface="Calibri"/>
              </a:rPr>
              <a:t>Projects Director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C6B72"/>
                </a:solidFill>
                <a:latin typeface="Calibri"/>
              </a:rPr>
              <a:t>Портфели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11680"/>
            <a:ext cx="274320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4688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F9E44"/>
                </a:solidFill>
                <a:latin typeface="Calibri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2918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223B"/>
                </a:solidFill>
                <a:latin typeface="Calibri"/>
              </a:rPr>
              <a:t>Senior 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C6B72"/>
                </a:solidFill>
                <a:latin typeface="Calibri"/>
              </a:rPr>
              <a:t>Сложные проекты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011680"/>
            <a:ext cx="274320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39" y="24688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F9E44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39" y="32918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223B"/>
                </a:solidFill>
                <a:latin typeface="Calibri"/>
              </a:rPr>
              <a:t>Project 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C6B72"/>
                </a:solidFill>
                <a:latin typeface="Calibri"/>
              </a:rPr>
              <a:t>Средняя сложность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19" y="2011680"/>
            <a:ext cx="274320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599" y="24688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F9E44"/>
                </a:solidFill>
                <a:latin typeface="Calibri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599" y="32918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223B"/>
                </a:solidFill>
                <a:latin typeface="Calibri"/>
              </a:rPr>
              <a:t>PM Associate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599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C6B72"/>
                </a:solidFill>
                <a:latin typeface="Calibri"/>
              </a:rPr>
              <a:t>Базовый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09  »  ЧЛЕНСТВО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Рост членской базы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190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F9E44"/>
                </a:solidFill>
                <a:latin typeface="Calibri"/>
              </a:rPr>
              <a:t>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71907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D223B"/>
                </a:solidFill>
                <a:latin typeface="Calibri"/>
              </a:rPr>
              <a:t>15–20 индивидуальных членов, студенческий трек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1106424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249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F9E44"/>
                </a:solidFill>
                <a:latin typeface="Calibri"/>
              </a:rPr>
              <a:t>2028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2491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D223B"/>
                </a:solidFill>
                <a:latin typeface="Calibri"/>
              </a:rPr>
              <a:t>50+ членов, первые корпоративные партнёры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6424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307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F9E44"/>
                </a:solidFill>
                <a:latin typeface="Calibri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3075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D223B"/>
                </a:solidFill>
                <a:latin typeface="Calibri"/>
              </a:rPr>
              <a:t>100+ членов, устойчивый рост сертификации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54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Категории: индивидуальное · студенческое · корпоративное
Скидки на сертификацию A–D (до 20%), материалы ICB4/OCB/PEB, национальный реестр.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10  »  ЭКОСИСТЕМА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Экосистема и продвижение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Госсектор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Цифровые и инфраструктурные проекты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46304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399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Бизнес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399" y="23774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Компании и подрядчики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6616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Образование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80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Университеты Бишкека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356616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399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23B"/>
                </a:solidFill>
                <a:latin typeface="Calibri"/>
              </a:rPr>
              <a:t>Обучение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399" y="4480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Подготовка к сертификации ICB4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28600"/>
            <a:ext cx="597448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11  »  МОЛОДЁЖЬ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223B"/>
                </a:solidFill>
                <a:latin typeface="Arial"/>
              </a:rPr>
              <a:t>Развитие Young 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Знакомить молодёжь со стандартами и ценностями IPMA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Привлекать студентов через студенческое членство KgPMU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Интегрировать ICB4 в образовательные программы вузов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Поддерживать путь к сертификации IPMA Level D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28394A"/>
                </a:solidFill>
                <a:latin typeface="Calibri"/>
              </a:rPr>
              <a:t>» Участие в международных молодёжных форумах Young Crew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11064240" cy="731520"/>
          </a:xfrm>
          <a:prstGeom prst="round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212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Поддержка будущего профессии P3M в Кыргызстане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2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3035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>
                <a:solidFill>
                  <a:srgbClr val="E30613"/>
                </a:solidFill>
                <a:latin typeface="Calibri"/>
              </a:rPr>
              <a:t>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E0A0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Мы приглашаем
к сотрудничеству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CD0DF"/>
                </a:solidFill>
                <a:latin typeface="Calibri"/>
              </a:rPr>
              <a:t>KgPMU уже является Ассоциацией-заявителем IPMA и готова двигаться к Full MA и сертификации в Центральной Азии.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E0A0"/>
                </a:solidFill>
                <a:latin typeface="Calibri"/>
              </a:rPr>
              <a:t>info@ipma.kg
+996 555 655 755 · ipma.kg
Урмат Мекишев · Президент KgPMU</a:t>
            </a:r>
          </a:p>
        </p:txBody>
      </p:sp>
      <p:pic>
        <p:nvPicPr>
          <p:cNvPr id="8" name="Picture 7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103120"/>
            <a:ext cx="4206240" cy="1229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FA6B8"/>
                </a:solidFill>
                <a:latin typeface="Calibri"/>
              </a:rPr>
              <a:t>IPMA Kyrgyz Republic  ·  ipma.kg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FA6B8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