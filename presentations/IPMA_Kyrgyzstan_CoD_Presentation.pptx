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2926080" cy="347472"/>
          </a:xfrm>
          <a:prstGeom prst="roundRect">
            <a:avLst/>
          </a:prstGeom>
          <a:solidFill>
            <a:srgbClr val="142E45"/>
          </a:solidFill>
          <a:ln>
            <a:solidFill>
              <a:srgbClr val="2A4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7FE0A0"/>
                </a:solidFill>
                <a:latin typeface="Calibri"/>
              </a:rPr>
              <a:t>»»  COUNCIL OF DELEGATES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Кыргызское объединение управления проектами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BCD0DF"/>
                </a:solidFill>
                <a:latin typeface="Calibri"/>
              </a:rPr>
              <a:t>ОО «KgPMU» · Kyrgyz Project Management Union · ipma.kg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FA6B8"/>
                </a:solidFill>
                <a:latin typeface="Calibri"/>
              </a:rPr>
              <a:t>Представляет: Урмат Мекишев, Президент KgPMU</a:t>
            </a:r>
          </a:p>
        </p:txBody>
      </p:sp>
      <p:pic>
        <p:nvPicPr>
          <p:cNvPr id="7" name="Picture 6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94560"/>
            <a:ext cx="3931920" cy="11491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475488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0" b="1">
                <a:solidFill>
                  <a:srgbClr val="E30613"/>
                </a:solidFill>
                <a:latin typeface="Calibri"/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8FA6B8"/>
                </a:solidFill>
                <a:latin typeface="Calibri"/>
              </a:rPr>
              <a:t>IPMA » Kyrgyz Republic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FA6B8"/>
                </a:solidFill>
                <a:latin typeface="Calibri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02  »»  КТО 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Президент KgPMU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4008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7A34"/>
                </a:solidFill>
                <a:latin typeface="Calibri"/>
              </a:rPr>
              <a:t>МЕКИШЕВ УРМАТ КАЗБЕКОВИЧ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600" b="1">
                <a:solidFill>
                  <a:srgbClr val="0D223B"/>
                </a:solidFill>
                <a:latin typeface="Calibri"/>
              </a:rPr>
              <a:t>Президент KgPMU · сертифицированный эксперт IPMA</a:t>
            </a:r>
          </a:p>
          <a:p>
            <a:pPr>
              <a:spcBef>
                <a:spcPts val="10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Проектный менеджер и бизнес-аналитик с более чем 15-летним опытом. Обладатель IPMA Level B (Certified Senior Project Manager).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Руководил проектами цифровизации госсистем, ГИС и автоматизации — включая таможенные и муниципальные сервисы.</a:t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rPr sz="1200" b="1">
                <a:solidFill>
                  <a:srgbClr val="1F7A34"/>
                </a:solidFill>
                <a:latin typeface="Calibri"/>
              </a:rPr>
              <a:t>IPMA Level B · GovTech · Digital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8308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223B"/>
                </a:solidFill>
                <a:latin typeface="Calibri"/>
              </a:rPr>
              <a:t>»  Государственные проекты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Цифровизация и автоматизация сервисов госсектора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78892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223B"/>
                </a:solidFill>
                <a:latin typeface="Calibri"/>
              </a:rPr>
              <a:t>»  Геоинформационные решения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Проекты цифровой инвентаризации и открытых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79476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223B"/>
                </a:solidFill>
                <a:latin typeface="Calibri"/>
              </a:rPr>
              <a:t>»  Признание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Благодарности и награды госорганов и международных организаций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48006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223B"/>
                </a:solidFill>
                <a:latin typeface="Calibri"/>
              </a:rPr>
              <a:t>»  Сообщество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Развитие профессиональных стандартов IPMA в Кыргызстане</a:t>
            </a:r>
          </a:p>
        </p:txBody>
      </p:sp>
      <p:pic>
        <p:nvPicPr>
          <p:cNvPr id="11" name="Picture 10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IPMA » Kyrgyz Republic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03  »»  О СТРАНЕ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Кыргызская Республика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Стратегическое положение, природа, культура и цифровая повестка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23B"/>
                </a:solidFill>
                <a:latin typeface="Calibri"/>
              </a:rPr>
              <a:t>≈200 тыс.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>
                <a:solidFill>
                  <a:srgbClr val="28394A"/>
                </a:solidFill>
                <a:latin typeface="Calibri"/>
              </a:rPr>
              <a:t>км² · сердце Центральной Азии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1488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23B"/>
                </a:solidFill>
                <a:latin typeface="Calibri"/>
              </a:rPr>
              <a:t>≈7,4 млн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>
                <a:solidFill>
                  <a:srgbClr val="28394A"/>
                </a:solidFill>
                <a:latin typeface="Calibri"/>
              </a:rPr>
              <a:t>население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23B"/>
                </a:solidFill>
                <a:latin typeface="Calibri"/>
              </a:rPr>
              <a:t>ЕАЭС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>
                <a:solidFill>
                  <a:srgbClr val="28394A"/>
                </a:solidFill>
                <a:latin typeface="Calibri"/>
              </a:rPr>
              <a:t>единое экономическое пространство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1488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D223B"/>
                </a:solidFill>
                <a:latin typeface="Calibri"/>
              </a:rPr>
              <a:t>WNG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>
                <a:solidFill>
                  <a:srgbClr val="28394A"/>
                </a:solidFill>
                <a:latin typeface="Calibri"/>
              </a:rPr>
              <a:t>Всемирные игры кочевников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Стратегическое положение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Пересечение маршрутов ЕАЭС и Большого Шёлкового пути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8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Всемирные игры кочевников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Глобальная витрина культуры и soft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Соседи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Казахстан, Узбекистан, Таджикистан, Китай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Цифровизация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Госуслуги, таможня, реестры — спрос на P3M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59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Природа и культура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Горная страна, кочевое наследие, гостеприимство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37759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223B"/>
                </a:solidFill>
                <a:latin typeface="Calibri"/>
              </a:rPr>
              <a:t>»  Возможность для IPMA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Потребность в компетентных руководителях проектов</a:t>
            </a:r>
          </a:p>
        </p:txBody>
      </p:sp>
      <p:pic>
        <p:nvPicPr>
          <p:cNvPr id="16" name="Picture 15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IPMA » Kyrgyz Republic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04  »»  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Показатели и позиция в мире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8394A"/>
                </a:solidFill>
                <a:latin typeface="Calibri"/>
              </a:rPr>
              <a:t>Один из самых быстрорастущих рынков региона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73152" cy="960120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≈11%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Рост реального ВВП в 2025 (МВФ / ВБ)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945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377440"/>
            <a:ext cx="73152" cy="960120"/>
          </a:xfrm>
          <a:prstGeom prst="rect">
            <a:avLst/>
          </a:prstGeom>
          <a:solidFill>
            <a:srgbClr val="DD9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423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≈$23 млрд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Номинальный ВВП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945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2377440"/>
            <a:ext cx="73152" cy="96012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423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Топ‑рост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Лидеры роста 2021–2025 (МВФ)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40"/>
            <a:ext cx="73152" cy="960120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Строительство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Инфраструктура и инвестиции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3977640"/>
            <a:ext cx="73152" cy="960120"/>
          </a:xfrm>
          <a:prstGeom prst="rect">
            <a:avLst/>
          </a:prstGeom>
          <a:solidFill>
            <a:srgbClr val="DD9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40233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Цифра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Госуслуги, таможня, AI-повестка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794760"/>
            <a:ext cx="35661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3977640"/>
            <a:ext cx="73152" cy="96012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40233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D223B"/>
                </a:solidFill>
                <a:latin typeface="Calibri"/>
              </a:rPr>
              <a:t>ГЭС / коридоры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>
                <a:solidFill>
                  <a:srgbClr val="28394A"/>
                </a:solidFill>
                <a:latin typeface="Calibri"/>
              </a:rPr>
              <a:t>Региональная связанность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C6B72"/>
                </a:solidFill>
                <a:latin typeface="Calibri"/>
              </a:rPr>
              <a:t>Источники: IMF Article IV (2026), World Bank — ориентиры для CoD.</a:t>
            </a:r>
          </a:p>
        </p:txBody>
      </p:sp>
      <p:pic>
        <p:nvPicPr>
          <p:cNvPr id="25" name="Picture 24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IPMA » Kyrgyz Republic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7FE0A0"/>
                </a:solidFill>
                <a:latin typeface="Calibri"/>
              </a:rPr>
              <a:t>05  »»  МИССИЯ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Миссия KgPMU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Создать в Кыргызстане сообщество лидеров, способных реализовывать проекты мирового уровня — на стандартах IPMA и национальных ценностях.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7D6E2"/>
                </a:solidFill>
                <a:latin typeface="Calibri"/>
              </a:rPr>
              <a:t>Повышаем зрелость через образование, сертификацию и ICB4. Формируем CB 4‑L‑C. Интегрируем Кыргызстан в глобальную семью IPMA.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8FA6B8"/>
                </a:solidFill>
                <a:latin typeface="Calibri"/>
              </a:rPr>
              <a:t>По уставу / ipma.kg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FA6B8"/>
                </a:solidFill>
                <a:latin typeface="Calibr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06  »»  СТРАТЕГИЯ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Спрос и цели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СПРОС НА P3M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779776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Госуправление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2103120"/>
            <a:ext cx="2779776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Строительство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87168"/>
            <a:ext cx="1188720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2487168"/>
            <a:ext cx="2944368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Медицина и НПО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92624" y="2487168"/>
            <a:ext cx="2944368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Инфраструктура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71215"/>
            <a:ext cx="2615184" cy="292608"/>
          </a:xfrm>
          <a:prstGeom prst="roundRect">
            <a:avLst/>
          </a:prstGeom>
          <a:solidFill>
            <a:srgbClr val="E8F6EC"/>
          </a:solidFill>
          <a:ln>
            <a:solidFill>
              <a:srgbClr val="C6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F7A34"/>
                </a:solidFill>
                <a:latin typeface="Calibri"/>
              </a:rPr>
              <a:t>Цифровизация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8394A"/>
                </a:solidFill>
                <a:latin typeface="Calibri"/>
              </a:rPr>
              <a:t>Масштабные госпрограммы и donor/corporate проекты требуют сертифицированных компетенций и общего «языка» IPMA.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СТРАТЕГИЧЕСКИЕ ЦЕЛИ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Перейти от Ассоциации-заявителя к Full Member Association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79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9747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Создать независимый CB по системе IPMA 4‑L‑C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39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Рост членства: индивидуальное, студенческое, корпоративное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862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886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Продвигать ICB4 / OCB / PEB в госсекторе и бизнесе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056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805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Партнёрства с вузами, госорганами и бизнесом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7492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F9E44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0749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94A"/>
                </a:solidFill>
                <a:latin typeface="Calibri"/>
              </a:rPr>
              <a:t>Сотрудничество с MA ЦА и ЕАЭС · запуск Young Crew</a:t>
            </a:r>
          </a:p>
        </p:txBody>
      </p:sp>
      <p:pic>
        <p:nvPicPr>
          <p:cNvPr id="26" name="Picture 25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IPMA » Kyrgyz Republic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07  »»  ЭКОСИСТЕМА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Экосистема и продвижение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0292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7A34"/>
                </a:solidFill>
                <a:latin typeface="Calibri"/>
              </a:rPr>
              <a:t>01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1">
                <a:solidFill>
                  <a:srgbClr val="0D223B"/>
                </a:solidFill>
                <a:latin typeface="Calibri"/>
              </a:rPr>
              <a:t>Госсектор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Цифровые и инфраструктурные проекты министерств и ведомств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0292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7A34"/>
                </a:solidFill>
                <a:latin typeface="Calibri"/>
              </a:rPr>
              <a:t>02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1">
                <a:solidFill>
                  <a:srgbClr val="0D223B"/>
                </a:solidFill>
                <a:latin typeface="Calibri"/>
              </a:rPr>
              <a:t>Бизнес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Компании и подрядчики, реализующие проекты и программы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50292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7A34"/>
                </a:solidFill>
                <a:latin typeface="Calibri"/>
              </a:rPr>
              <a:t>03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1">
                <a:solidFill>
                  <a:srgbClr val="0D223B"/>
                </a:solidFill>
                <a:latin typeface="Calibri"/>
              </a:rPr>
              <a:t>Образование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Университеты Бишкека — источник молодых кадров и Young Crew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023360"/>
            <a:ext cx="50292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4251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7A34"/>
                </a:solidFill>
                <a:latin typeface="Calibri"/>
              </a:rPr>
              <a:t>04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1">
                <a:solidFill>
                  <a:srgbClr val="0D223B"/>
                </a:solidFill>
                <a:latin typeface="Calibri"/>
              </a:rPr>
              <a:t>Обучение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Подготовка к сертификации ICB4 и развитие провайдеров</a:t>
            </a:r>
          </a:p>
        </p:txBody>
      </p:sp>
      <p:pic>
        <p:nvPicPr>
          <p:cNvPr id="13" name="Picture 12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IPMA » Kyrgyz Republic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F7A34"/>
                </a:solidFill>
                <a:latin typeface="Calibri"/>
              </a:rPr>
              <a:t>08  »» 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D22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965960"/>
            <a:ext cx="36576" cy="3657600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2039112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965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D223B"/>
                </a:solidFill>
                <a:latin typeface="Calibri"/>
              </a:rPr>
              <a:t>Регистрация ОО «KgPMU»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Официальная регистрация в Министерстве юстиции КР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999232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D223B"/>
                </a:solidFill>
                <a:latin typeface="Calibri"/>
              </a:rPr>
              <a:t>Пакет документов в IPMA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Заявка в штаб-квартиру · статус Ассоциации-заявителя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3959352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D223B"/>
                </a:solidFill>
                <a:latin typeface="Calibri"/>
              </a:rPr>
              <a:t>Сертификация руководителя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Урмат Мекишев — сертификат IPMA Level B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4919472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8463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D223B"/>
                </a:solidFill>
                <a:latin typeface="Calibri"/>
              </a:rPr>
              <a:t>Совместное обучение с AzPMA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300" b="0">
                <a:solidFill>
                  <a:srgbClr val="28394A"/>
                </a:solidFill>
                <a:latin typeface="Calibri"/>
              </a:rPr>
              <a:t>4 студента: 3 × Level C и 1 × Level B</a:t>
            </a:r>
          </a:p>
        </p:txBody>
      </p:sp>
      <p:pic>
        <p:nvPicPr>
          <p:cNvPr id="14" name="Picture 1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55080"/>
            <a:ext cx="238979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C6B72"/>
                </a:solidFill>
                <a:latin typeface="Calibri"/>
              </a:rPr>
              <a:t>KgPMU » AzPMA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C6B72"/>
                </a:solidFill>
                <a:latin typeface="Calibr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7FE0A0"/>
                </a:solidFill>
                <a:latin typeface="Calibri"/>
              </a:rPr>
              <a:t>09  »»  COUNCIL OF DELEGATES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Благодарим делегатов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Спасибо Совету делегатов IPMA за внимание к голосу Центральной Азии.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566160"/>
            <a:ext cx="10515600" cy="1280160"/>
          </a:xfrm>
          <a:prstGeom prst="roundRect">
            <a:avLst/>
          </a:prstGeom>
          <a:solidFill>
            <a:srgbClr val="143528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Просим поддержать KgPMU и своим голосом помочь включить объединение в семью IPMA как полноправного национального партнёра.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7D6E2"/>
                </a:solidFill>
                <a:latin typeface="Calibri"/>
              </a:rPr>
              <a:t>Мы готовы сотрудничать, учиться у зрелых MA и делиться опытом emerging-рынка.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8FA6B8"/>
                </a:solidFill>
                <a:latin typeface="Calibri"/>
              </a:rPr>
              <a:t>Support KgPMU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FA6B8"/>
                </a:solidFill>
                <a:latin typeface="Calibr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560320" cy="347472"/>
          </a:xfrm>
          <a:prstGeom prst="roundRect">
            <a:avLst/>
          </a:prstGeom>
          <a:solidFill>
            <a:srgbClr val="142E45"/>
          </a:solidFill>
          <a:ln>
            <a:solidFill>
              <a:srgbClr val="2A4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7FE0A0"/>
                </a:solidFill>
                <a:latin typeface="Calibri"/>
              </a:rPr>
              <a:t>»»  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400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Ждём сотрудничества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BCD0DF"/>
                </a:solidFill>
                <a:latin typeface="Calibri"/>
              </a:rPr>
              <a:t>KgPMU · IPMA Kyrgyz Republic · Бишкек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7FE0A0"/>
                </a:solidFill>
                <a:latin typeface="Calibri"/>
              </a:rPr>
              <a:t>info@ipma.kg  ·  +996 555 655 755  ·  ipma.kg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FA6B8"/>
                </a:solidFill>
                <a:latin typeface="Calibri"/>
              </a:rPr>
              <a:t>Урмат Мекишев · Президент KgPMU</a:t>
            </a:r>
          </a:p>
        </p:txBody>
      </p:sp>
      <p:pic>
        <p:nvPicPr>
          <p:cNvPr id="8" name="Picture 7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286000"/>
            <a:ext cx="3931920" cy="11491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3550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8FA6B8"/>
                </a:solidFill>
                <a:latin typeface="Calibri"/>
              </a:rPr>
              <a:t>IPMA » Kyrgyz Republic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550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FA6B8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