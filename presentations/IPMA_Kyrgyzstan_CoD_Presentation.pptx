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457200"/>
            <a:ext cx="1280160" cy="128016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69880" y="685800"/>
            <a:ext cx="822960" cy="822960"/>
          </a:xfrm>
          <a:prstGeom prst="ellipse">
            <a:avLst/>
          </a:prstGeom>
          <a:solidFill>
            <a:srgbClr val="E8C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COUNCIL OF DELEGATES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Georgia"/>
              </a:rPr>
              <a:t>IPMA Kyrgyzstan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5D4DE"/>
                </a:solidFill>
                <a:latin typeface="Calibri"/>
              </a:rPr>
              <a:t>Applying Member Association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B0BE"/>
                </a:solidFill>
                <a:latin typeface="Calibri"/>
              </a:rPr>
              <a:t>Presentation to the IPMA Council of Delegates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5D4DE"/>
                </a:solidFill>
                <a:latin typeface="Calibri"/>
              </a:rPr>
              <a:t>Bringing the IPMA standard to Central Asia  ·  Bishkek, Kyrgyz Republic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Introduction of ourselves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Leadership of the applying Member Association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492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5349240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PRESIDENT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[Name Surname]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Project management practitioner / academic with experience in Kyrgyzstan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Leadership in establishing a national PM professional community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Strong links with universities, public sector and industry partners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Committed to aligning national practice with IPMA values and 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3492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349240" cy="9144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VICE-PRESIDENT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[Name Surname]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8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Experience in education, certification pathways and community building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Focus on Young Crew development and university engagement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Author / contributor in project and programme management topics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Ready to co-lead IPMA Kyrgyzstan operations and partnerships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A team ready to build IPMA Kyrgyzstan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Governance roles prepared for launch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President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Overall leadership &amp; CoD representation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Vice-President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Membership, partners &amp;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9" y="22402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Certification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CB setup, assessors &amp; quality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06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Young Crew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Universities &amp; early-career talent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206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Communications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Ecosystem, events &amp; digital presence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59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59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9" y="4206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Treasurer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Not-for-profit financial stewardship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Strategic position of Kyrgyzstan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A Central Asian gateway for professional project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965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199,900 km² — mountainous heart of Central Asia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Population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651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~7.2 million (2024)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004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Capital / HQ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Bishkek — proposed head office of the 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862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023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Key sectors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4023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Energy &amp; hydropower, mining, infrastructure, agriculture, IT &amp; digital services, public investment programmes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720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Regional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709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Bridge between Central Asia, corridor projects and Eurasian markets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94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Opportunity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Growing demand for competent P3M capability in national and donor-funded projects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OUR 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Georgia"/>
              </a:rPr>
              <a:t>Promote and strengthen professionalism in project, programme and portfolio management across Kyrgyzstan — so that public and private projects achieve their objectives efficiently, ethically and in line with IPMA values and standards.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5D4DE"/>
                </a:solidFill>
                <a:latin typeface="Calibri"/>
              </a:rPr>
              <a:t>A national home for the IPMA ecosystem in Central Asia.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8E9E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E9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Strategic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Clear priorities for the first three years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4767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2023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Establish IPMA Kyrgyzstan as a recognised professional body in the Kyrgyz Republic.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53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926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Grow a stable community of individual and corporate members from a clear baseline.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8620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59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31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Establish the Kyrgyzstan Certification Body across all 4 IPMA levels.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651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937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Achieve sustained certification growth and quality of assessment.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874519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94767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92023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Promote the IPMA standard across Kyrgyzstan and the wider Central Asian region.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88036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953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926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Launch and develop Young Crew Kyrgyzstan with universities.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8620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959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931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Participate in and organise IPMA events, webinars and knowledge exchanges.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89204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49651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937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Build durable partnerships with training providers, employers and peer MAs.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Roadmap 2025–2027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Stabilise · Grow ·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3611880" cy="8229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Establish &amp; 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Register non-profit association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Become IPMA Applying Member Association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Form Board and operating model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Target: ~25 founding members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74519"/>
            <a:ext cx="3611880" cy="82296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Promote &amp; certify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Grow membership and visibility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Launch Certification Body pathway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University &amp; corporate outreach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Target: ~60 members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74519"/>
            <a:ext cx="3611880" cy="822960"/>
          </a:xfrm>
          <a:prstGeom prst="rect">
            <a:avLst/>
          </a:prstGeom>
          <a:solidFill>
            <a:srgbClr val="B0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Scale &amp; show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Present results to IPMA family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Expand certification volumes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Regional Central Asia collaboration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Target: 100+ members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We will grow membership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Building the first national IPMA community in Kyrgyzstan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Today there is no established IPMA Member Association serving Kyrgyzstan.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We will open membership with clear value for professionals, employers and educators.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Individual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6576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Practitioners seeking competence, network and recognition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01752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246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Corporate members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6576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Employers investing in project capability and standards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63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Education 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Universities embedding IPMA into programmes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43484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6634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Training providers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50749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ATOs and partners supporting certification pathways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Co-creating our Certification Body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Quality certification rooted in collaboration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6B8A"/>
                </a:solidFill>
                <a:latin typeface="Calibri"/>
              </a:rPr>
              <a:t>Target: establish CB capability for Kyrgyzstan with peer-MA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Offer all 4 IPMA certification levels, with a phased start where needed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Collaborate with established MAs / CBs to harmonise process and quality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Build a committed pool of assessors and share capacity regionally where appropriate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Outsource examination processing where it strengthens reliability and speed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Protect candidate experience and the reputation of the IPMA brand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Reinvest certification income into community development and Young Crew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Promotion of the IPMA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Visibility, knowledge and community 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Official site promoting IPMA values, events and pathways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Social media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LinkedIn, Instagram and professional channels in KR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Universities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Guest lectures and curriculum links in Bishkek and beyond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Webinars, conferences and knowledge forums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Publications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Professional articles and case studies from local practice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Regional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Exchange with Central Asian and neighbouring MAs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Development of Young Crew Kyrgyzstan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Starting PM careers with IPMA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Introduce ambitious youth to IPMA standards, values and global community</a:t>
            </a:r>
          </a:p>
          <a:p>
            <a:pPr algn="l"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Connect students and early-career professionals to Young Crew Kyrgyzstan</a:t>
            </a:r>
          </a:p>
          <a:p>
            <a:pPr algn="l"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Partner with universities in Bishkek and regional centres to enrich PM education</a:t>
            </a:r>
          </a:p>
          <a:p>
            <a:pPr algn="l"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Support pathways from academic programmes toward IPMA Level D certification</a:t>
            </a:r>
          </a:p>
          <a:p>
            <a:pPr algn="l"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Link Young Crew talent with employers facing project capability shortages</a:t>
            </a:r>
          </a:p>
          <a:p>
            <a:pPr algn="l"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Encourage regional Young Crew collaboration across Central Asia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1F33"/>
                </a:solidFill>
                <a:latin typeface="Georgia"/>
              </a:rPr>
              <a:t>Our distinctive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Why IPMA Kyrgyzstan matters for the IPMA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9728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Central Asia presence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Extend the IPMA footprint into a strategically important region with growing infrastructure and energy investment.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80360"/>
            <a:ext cx="109728" cy="91440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Bilingual reach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375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Serve Russian- and Kyrgyz-speaking professionals and open accessible pathways into the IPMA ecosystem.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109728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6908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Public &amp; donor projects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3891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Raise competence where national programmes and international projects need reliable P3M practice.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83479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9728" cy="91440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120639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Peer collaboration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40679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Learn from mature MAs and CBs, and share back local insights from emerging-market project environments.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WE WELCOME YOUR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Georgia"/>
              </a:rPr>
              <a:t>The IPMA Kyrgyzstan team is ready to establish a distinct Member Association, grow a national P3M community, and collaborate with IPMA globally and through peer associations.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5D4DE"/>
                </a:solidFill>
                <a:latin typeface="Calibri"/>
              </a:rPr>
              <a:t>We respectfully ask for your support as an Applying Member Association — and look forward to contributing a new Central Asian voice to the IPMA family.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8E9E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E9E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B1F33"/>
                </a:solidFill>
                <a:latin typeface="Georgia"/>
              </a:rPr>
              <a:t>Thank you for your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6B78"/>
                </a:solidFill>
                <a:latin typeface="Calibri"/>
              </a:rPr>
              <a:t>Looking forward to future cooperation within the IPMA family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74720"/>
            <a:ext cx="105156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49039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CONTACTS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4"/>
                </a:solidFill>
                <a:latin typeface="Calibri"/>
              </a:rPr>
              <a:t>President:  [name]@[organisation].kg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177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4"/>
                </a:solidFill>
                <a:latin typeface="Calibri"/>
              </a:rPr>
              <a:t>Vice-President:  [name]@[organisation].kg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Any questions?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