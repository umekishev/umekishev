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A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578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41280" y="457200"/>
            <a:ext cx="1234440" cy="1234440"/>
          </a:xfrm>
          <a:prstGeom prst="ellipse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442448" y="658368"/>
            <a:ext cx="822960" cy="822960"/>
          </a:xfrm>
          <a:prstGeom prst="ellipse">
            <a:avLst/>
          </a:prstGeom>
          <a:solidFill>
            <a:srgbClr val="E8C4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Calibri"/>
              </a:rPr>
              <a:t>COUNCIL OF DELEGATES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2024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Georgia"/>
              </a:rPr>
              <a:t>IPMA Kyrgyzstan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C5D4DE"/>
                </a:solidFill>
                <a:latin typeface="Calibri"/>
              </a:rPr>
              <a:t>Applying Member Association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520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B0BE"/>
                </a:solidFill>
                <a:latin typeface="Calibri"/>
              </a:rPr>
              <a:t>Presentation to the IPMA Council of Delegates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62356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C5D4DE"/>
                </a:solidFill>
                <a:latin typeface="Calibri"/>
              </a:rPr>
              <a:t>Bringing the IPMA standard to Central Asia  ·  Bishkek, Kyrgyz Republic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KYRGYZSTAN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Georgia"/>
              </a:rPr>
              <a:t>Introduction of ourselves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Leadership of the applying Member Association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534924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5349240" cy="9144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05740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6B8A"/>
                </a:solidFill>
                <a:latin typeface="Calibri"/>
              </a:rPr>
              <a:t>PRESIDENT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33"/>
                </a:solidFill>
                <a:latin typeface="Georgia"/>
              </a:rPr>
              <a:t>[Name Surname]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926080"/>
            <a:ext cx="4709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Project management practitioner / academic with experience in Kyrgyzstan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Leadership in establishing a national PM professional community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Strong links with universities, public sector and industry partners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Committed to aligning national practice with IPMA values and standards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828800"/>
            <a:ext cx="5349240" cy="4114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828800"/>
            <a:ext cx="5349240" cy="91440"/>
          </a:xfrm>
          <a:prstGeom prst="rect">
            <a:avLst/>
          </a:prstGeom>
          <a:solidFill>
            <a:srgbClr val="2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0" y="205740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6B8A"/>
                </a:solidFill>
                <a:latin typeface="Calibri"/>
              </a:rPr>
              <a:t>VICE-PRESIDENT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331720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33"/>
                </a:solidFill>
                <a:latin typeface="Georgia"/>
              </a:rPr>
              <a:t>[Name Surname]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926080"/>
            <a:ext cx="47091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Experience in education, certification pathways and community building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Focus on Young Crew development and university engagement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Author / contributor in project and programme management topics</a:t>
            </a:r>
          </a:p>
          <a:p>
            <a:pPr>
              <a:spcAft>
                <a:spcPts val="10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Ready to co-lead IPMA Kyrgyzstan operations and partnerships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KYRGYZSTAN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Georgia"/>
              </a:rPr>
              <a:t>A team ready to build IPMA Kyrgyzstan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Governance roles prepared for launch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5661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91440" cy="17373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President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Overall leadership &amp; CoD representation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920240"/>
            <a:ext cx="35661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920240"/>
            <a:ext cx="91440" cy="17373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2402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Vice-President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743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Membership, partners &amp; operations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59" y="1920240"/>
            <a:ext cx="35661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38159" y="1920240"/>
            <a:ext cx="91440" cy="17373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9" y="224028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Certification Lead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79" y="274320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CB setup, assessors &amp; quality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886200"/>
            <a:ext cx="35661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91440" cy="17373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206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Young Crew Lead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70916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Universities &amp; early-career talent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89120" y="3886200"/>
            <a:ext cx="35661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89120" y="3886200"/>
            <a:ext cx="91440" cy="17373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63440" y="4206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Communications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470916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Ecosystem, events &amp; digital presence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38159" y="3886200"/>
            <a:ext cx="3566160" cy="1737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38159" y="3886200"/>
            <a:ext cx="91440" cy="17373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12479" y="420624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Treasurer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79" y="470916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Not-for-profit financial stewardship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KYRGYZSTAN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Georgia"/>
              </a:rPr>
              <a:t>Strategic position of Kyrgyzstan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A Central Asian gateway for professional project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97280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659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6B8A"/>
                </a:solidFill>
                <a:latin typeface="Calibri"/>
              </a:rPr>
              <a:t>Area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08960" y="1965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199,900 km² — mountainous heart of Central Asia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14600"/>
            <a:ext cx="1097280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651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6B8A"/>
                </a:solidFill>
                <a:latin typeface="Calibri"/>
              </a:rPr>
              <a:t>Population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6517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~7.2 million (2024)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00400"/>
            <a:ext cx="1097280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3375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6B8A"/>
                </a:solidFill>
                <a:latin typeface="Calibri"/>
              </a:rPr>
              <a:t>Capital / HQ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08960" y="33375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Bishkek — proposed head office of the MA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886200"/>
            <a:ext cx="1097280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0233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6B8A"/>
                </a:solidFill>
                <a:latin typeface="Calibri"/>
              </a:rPr>
              <a:t>Key sectors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4023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Energy &amp; hydropower, mining, infrastructure, agriculture, IT &amp; digital services, public investment programmes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572000"/>
            <a:ext cx="1097280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7091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6B8A"/>
                </a:solidFill>
                <a:latin typeface="Calibri"/>
              </a:rPr>
              <a:t>Regional role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08960" y="4709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Bridge between Central Asia, corridor projects and Eurasian markets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57800"/>
            <a:ext cx="10972800" cy="594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949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6B8A"/>
                </a:solidFill>
                <a:latin typeface="Calibri"/>
              </a:rPr>
              <a:t>Opportunity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08960" y="53949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Growing demand for competent P3M capability in national and donor-funded projects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A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578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Calibri"/>
              </a:rPr>
              <a:t>OUR MISSION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5156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FFFFFF"/>
                </a:solidFill>
                <a:latin typeface="Georgia"/>
              </a:rPr>
              <a:t>Promote and strengthen professionalism in project, programme and portfolio management across Kyrgyzstan — so that public and private projects achieve their objectives efficiently, ethically and in line with IPMA values and standards.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5D4DE"/>
                </a:solidFill>
                <a:latin typeface="Calibri"/>
              </a:rPr>
              <a:t>A national home for the IPMA ecosystem in Central Asia.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A8E9E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E9E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KYRGYZSTAN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Georgia"/>
              </a:rPr>
              <a:t>Strategic goals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Clear priorities for the first three years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4767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920239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Establish IPMA Kyrgyzstan as a recognised professional body in the Kyrgyz Republic.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880360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9535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29260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Grow a stable community of individual and corporate members from a clear baseline.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886200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9593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93192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Establish the Kyrgyzstan Certification Body across all 4 IPMA levels.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92040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96519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49377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Achieve sustained certification growth and quality of assessment.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1874519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1947671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1920239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Promote the IPMA standard across Kyrgyzstan and the wider Central Asian region.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09360" y="2880360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0" y="295351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292608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Launch and develop Young Crew Kyrgyzstan with universities.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3886200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95935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393192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Participate in and organise IPMA events, webinars and knowledge exchanges.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309360" y="4892040"/>
            <a:ext cx="502920" cy="502920"/>
          </a:xfrm>
          <a:prstGeom prst="round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4965192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C9A227"/>
                </a:solidFill>
                <a:latin typeface="Calibri"/>
              </a:rPr>
              <a:t>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95160" y="49377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C2834"/>
                </a:solidFill>
                <a:latin typeface="Calibri"/>
              </a:rPr>
              <a:t>Build durable partnerships with training providers, employers and peer MAs.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KYRGYZSTAN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Georgia"/>
              </a:rPr>
              <a:t>Roadmap 2025–2027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Stabilise · Grow · Scale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74519"/>
            <a:ext cx="3611880" cy="4023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74519"/>
            <a:ext cx="3611880" cy="82296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1F33"/>
                </a:solidFill>
                <a:latin typeface="Georgia"/>
              </a:rPr>
              <a:t>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3317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B1F33"/>
                </a:solidFill>
                <a:latin typeface="Calibri"/>
              </a:rPr>
              <a:t>Establish &amp; launch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2608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Register non-profit association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Become IPMA Applying Member Association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Form Board and operating model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Target: ~25 founding members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874519"/>
            <a:ext cx="3611880" cy="4023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34840" y="1874519"/>
            <a:ext cx="3611880" cy="822960"/>
          </a:xfrm>
          <a:prstGeom prst="rect">
            <a:avLst/>
          </a:prstGeom>
          <a:solidFill>
            <a:srgbClr val="2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344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3317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Promote &amp; certify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292608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Grow membership and visibility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Launch Certification Body pathway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University &amp; corporate outreach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Target: ~60 members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874519"/>
            <a:ext cx="3611880" cy="40233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874519"/>
            <a:ext cx="3611880" cy="822960"/>
          </a:xfrm>
          <a:prstGeom prst="rect">
            <a:avLst/>
          </a:prstGeom>
          <a:solidFill>
            <a:srgbClr val="B02A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19659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Georgia"/>
              </a:rPr>
              <a:t>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3317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Scale &amp; show results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2926080"/>
            <a:ext cx="31089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Present results to IPMA family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Expand certification volumes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Regional Central Asia collaboration</a:t>
            </a:r>
          </a:p>
          <a:p>
            <a:pPr>
              <a:spcAft>
                <a:spcPts val="1200"/>
              </a:spcAft>
            </a:pPr>
            <a:r>
              <a:rPr sz="1400" b="0">
                <a:solidFill>
                  <a:srgbClr val="1C2834"/>
                </a:solidFill>
                <a:latin typeface="Calibri"/>
              </a:rPr>
              <a:t>• Target: 100+ members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KYRGYZSTAN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Georgia"/>
              </a:rPr>
              <a:t>We will grow membership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Building the first national IPMA community in Kyrgyzstan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1C2834"/>
                </a:solidFill>
                <a:latin typeface="Calibri"/>
              </a:rPr>
              <a:t>Today there is no established IPMA Member Association serving Kyrgyzstan.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1C2834"/>
                </a:solidFill>
                <a:latin typeface="Calibri"/>
              </a:rPr>
              <a:t>We will open membership with clear value for professionals, employers and educators.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26080"/>
            <a:ext cx="5440680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1546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Georgia"/>
              </a:rPr>
              <a:t>Individual members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3566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Practitioners seeking competence, network and recognition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926080"/>
            <a:ext cx="5440680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15468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Georgia"/>
              </a:rPr>
              <a:t>Corporate members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5661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Employers investing in project capability and standards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43400"/>
            <a:ext cx="5440680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5720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Georgia"/>
              </a:rPr>
              <a:t>Education providers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498348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Universities embedding IPMA into programmes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343400"/>
            <a:ext cx="5440680" cy="12344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9400" y="45720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Georgia"/>
              </a:rPr>
              <a:t>Training providers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9400" y="498348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ATOs and partners supporting certification pathways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KYRGYZSTAN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Georgia"/>
              </a:rPr>
              <a:t>Co-creating our Certification Body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Quality certification rooted in collaboration with peer MAs / CBs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1C2834"/>
                </a:solidFill>
                <a:latin typeface="Calibri"/>
              </a:rPr>
              <a:t>• Offer all 4 IPMA certification levels, with a phased start where needed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C2834"/>
                </a:solidFill>
                <a:latin typeface="Calibri"/>
              </a:rPr>
              <a:t>• Collaborate with established MAs / CBs to harmonise process and quality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C2834"/>
                </a:solidFill>
                <a:latin typeface="Calibri"/>
              </a:rPr>
              <a:t>• Build a committed pool of assessors and share capacity regionally where appropriate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C2834"/>
                </a:solidFill>
                <a:latin typeface="Calibri"/>
              </a:rPr>
              <a:t>• Outsource examination processing where it strengthens reliability and speed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C2834"/>
                </a:solidFill>
                <a:latin typeface="Calibri"/>
              </a:rPr>
              <a:t>• Protect candidate experience and the reputation of the IPMA brand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1C2834"/>
                </a:solidFill>
                <a:latin typeface="Calibri"/>
              </a:rPr>
              <a:t>• Reinvest certification income into community development and Young Crew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KYRGYZSTAN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Georgia"/>
              </a:rPr>
              <a:t>Promotion of the IPMA ecosystem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Visibility, knowledge and community channels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920240"/>
            <a:ext cx="3611880" cy="1783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920240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Website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74320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Official site promoting IPMA values, events and pathways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920240"/>
            <a:ext cx="3611880" cy="1783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920240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224028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Social media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74320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LinkedIn, Instagram and professional channels in KR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920240"/>
            <a:ext cx="3611880" cy="1783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0" y="1920240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03920" y="224028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Universities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274320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Guest lectures and curriculum links in Bishkek and beyond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931920"/>
            <a:ext cx="3611880" cy="1783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931920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425196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Events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47548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Webinars, conferences and knowledge forums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434840" y="3931920"/>
            <a:ext cx="3611880" cy="1783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34840" y="3931920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09160" y="425196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Publications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60" y="47548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Professional articles and case studies from local practice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0" y="3931920"/>
            <a:ext cx="3611880" cy="178308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0" y="3931920"/>
            <a:ext cx="3611880" cy="73152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03920" y="4251960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1F33"/>
                </a:solidFill>
                <a:latin typeface="Georgia"/>
              </a:rPr>
              <a:t>Regional links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4754880"/>
            <a:ext cx="3063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Exchange with Central Asian and neighbouring MAs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KYRGYZSTAN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Georgia"/>
              </a:rPr>
              <a:t>Development of Young Crew Kyrgyzstan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Starting PM careers with IPMA standards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65960"/>
            <a:ext cx="109728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1700" b="0">
                <a:solidFill>
                  <a:srgbClr val="1C2834"/>
                </a:solidFill>
                <a:latin typeface="Calibri"/>
              </a:rPr>
              <a:t>• Introduce ambitious youth to IPMA standards, values and global community</a:t>
            </a:r>
          </a:p>
          <a:p>
            <a:pPr>
              <a:spcAft>
                <a:spcPts val="1600"/>
              </a:spcAft>
            </a:pPr>
            <a:r>
              <a:rPr sz="1700" b="0">
                <a:solidFill>
                  <a:srgbClr val="1C2834"/>
                </a:solidFill>
                <a:latin typeface="Calibri"/>
              </a:rPr>
              <a:t>• Connect students and early-career professionals to Young Crew Kyrgyzstan</a:t>
            </a:r>
          </a:p>
          <a:p>
            <a:pPr>
              <a:spcAft>
                <a:spcPts val="1600"/>
              </a:spcAft>
            </a:pPr>
            <a:r>
              <a:rPr sz="1700" b="0">
                <a:solidFill>
                  <a:srgbClr val="1C2834"/>
                </a:solidFill>
                <a:latin typeface="Calibri"/>
              </a:rPr>
              <a:t>• Partner with universities in Bishkek and regional centres to enrich PM education</a:t>
            </a:r>
          </a:p>
          <a:p>
            <a:pPr>
              <a:spcAft>
                <a:spcPts val="1600"/>
              </a:spcAft>
            </a:pPr>
            <a:r>
              <a:rPr sz="1700" b="0">
                <a:solidFill>
                  <a:srgbClr val="1C2834"/>
                </a:solidFill>
                <a:latin typeface="Calibri"/>
              </a:rPr>
              <a:t>• Support pathways from academic programmes toward IPMA Level D certification</a:t>
            </a:r>
          </a:p>
          <a:p>
            <a:pPr>
              <a:spcAft>
                <a:spcPts val="1600"/>
              </a:spcAft>
            </a:pPr>
            <a:r>
              <a:rPr sz="1700" b="0">
                <a:solidFill>
                  <a:srgbClr val="1C2834"/>
                </a:solidFill>
                <a:latin typeface="Calibri"/>
              </a:rPr>
              <a:t>• Link Young Crew talent with employers facing project capability shortages</a:t>
            </a:r>
          </a:p>
          <a:p>
            <a:pPr>
              <a:spcAft>
                <a:spcPts val="1600"/>
              </a:spcAft>
            </a:pPr>
            <a:r>
              <a:rPr sz="1700" b="0">
                <a:solidFill>
                  <a:srgbClr val="1C2834"/>
                </a:solidFill>
                <a:latin typeface="Calibri"/>
              </a:rPr>
              <a:t>• Encourage regional Young Crew collaboration across Central Asia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2E6B8A"/>
                </a:solidFill>
                <a:latin typeface="Calibri"/>
              </a:rPr>
              <a:t>IPMA KYRGYZSTAN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9436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0B1F33"/>
                </a:solidFill>
                <a:latin typeface="Georgia"/>
              </a:rPr>
              <a:t>Our distinctive contribution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B78"/>
                </a:solidFill>
                <a:latin typeface="Calibri"/>
              </a:rPr>
              <a:t>Why IPMA Kyrgyzstan matters for the IPMA family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828800"/>
            <a:ext cx="109728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109728" cy="9144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965960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Georgia"/>
              </a:rPr>
              <a:t>Central Asia presence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28600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Extend the IPMA footprint into a strategically important region with growing infrastructure and energy investment.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80360"/>
            <a:ext cx="109728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80360"/>
            <a:ext cx="109728" cy="914400"/>
          </a:xfrm>
          <a:prstGeom prst="rect">
            <a:avLst/>
          </a:prstGeom>
          <a:solidFill>
            <a:srgbClr val="2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017520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Georgia"/>
              </a:rPr>
              <a:t>Bilingual reach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33756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Serve Russian- and Kyrgyz-speaking professionals and open accessible pathways into the IPMA ecosystem.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31920"/>
            <a:ext cx="109728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931920"/>
            <a:ext cx="109728" cy="9144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4069080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Georgia"/>
              </a:rPr>
              <a:t>Public &amp; donor projects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4389120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Raise competence where national programmes and international projects need reliable P3M practice.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983479"/>
            <a:ext cx="10972800" cy="9144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4983479"/>
            <a:ext cx="109728" cy="914400"/>
          </a:xfrm>
          <a:prstGeom prst="rect">
            <a:avLst/>
          </a:prstGeom>
          <a:solidFill>
            <a:srgbClr val="2E6B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5120639"/>
            <a:ext cx="10241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Georgia"/>
              </a:rPr>
              <a:t>Peer collaboration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5840" y="5440679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B78"/>
                </a:solidFill>
                <a:latin typeface="Calibri"/>
              </a:rPr>
              <a:t>Learn from mature MAs and CBs, and share back local insights from emerging-market project environments.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1A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2578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9A227"/>
                </a:solidFill>
                <a:latin typeface="Calibri"/>
              </a:rPr>
              <a:t>WE WELCOME YOUR SUPPORT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9659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FFFFFF"/>
                </a:solidFill>
                <a:latin typeface="Georgia"/>
              </a:rPr>
              <a:t>The IPMA Kyrgyzstan team is ready to establish a distinct Member Association, grow a national P3M community, and collaborate with IPMA globally and through peer associations.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0690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5D4DE"/>
                </a:solidFill>
                <a:latin typeface="Calibri"/>
              </a:rPr>
              <a:t>We respectfully ask for your support as an Applying Member Association — and look forward to contributing a new Central Asian voice to the IPMA family.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7A8E9E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7A8E9E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0B1F33"/>
                </a:solidFill>
                <a:latin typeface="Georgia"/>
              </a:rPr>
              <a:t>Thank you for your attention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5A6B78"/>
                </a:solidFill>
                <a:latin typeface="Calibri"/>
              </a:rPr>
              <a:t>Looking forward to future cooperation within the IPMA family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429000"/>
            <a:ext cx="105156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37033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E6B8A"/>
                </a:solidFill>
                <a:latin typeface="Calibri"/>
              </a:rPr>
              <a:t>CONTACTS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1148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834"/>
                </a:solidFill>
                <a:latin typeface="Calibri"/>
              </a:rPr>
              <a:t>President:  [name]@[organisation].kg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6177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1C2834"/>
                </a:solidFill>
                <a:latin typeface="Calibri"/>
              </a:rPr>
              <a:t>Vice-President:  [name]@[organisation].kg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1F33"/>
                </a:solidFill>
                <a:latin typeface="Calibri"/>
              </a:rPr>
              <a:t>Any questions?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AA8"/>
                </a:solidFill>
                <a:latin typeface="Calibri"/>
              </a:rPr>
              <a:t>IPMA Kyrgyzstan  ·  Applying Member Association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46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8A9AA8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