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C0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D5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gpmu-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5607" y="822960"/>
            <a:ext cx="3840480" cy="18237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260604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D54F"/>
                </a:solidFill>
                <a:latin typeface="Calibri"/>
              </a:rPr>
              <a:t>IPMA · COUNCIL OF DELEGATES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01752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FFFFFF"/>
                </a:solidFill>
                <a:latin typeface="Georgia"/>
              </a:rPr>
              <a:t>Кыргызское объединение
управления проектами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1148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F3DCC9"/>
                </a:solidFill>
                <a:latin typeface="Calibri"/>
              </a:rPr>
              <a:t>ОО «KgPMU» · Kyrgyz Project Management Union · ipma.kg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645920" y="4709160"/>
            <a:ext cx="8869680" cy="594360"/>
          </a:xfrm>
          <a:prstGeom prst="roundRect">
            <a:avLst/>
          </a:prstGeom>
          <a:solidFill>
            <a:srgbClr val="A31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0" y="4828032"/>
            <a:ext cx="8503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Статус IPMA: Ассоциация-заявитель (Applying Member Association)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5321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3DCC9"/>
                </a:solidFill>
                <a:latin typeface="Calibri"/>
              </a:rPr>
              <a:t>Представляет: Урмат Мекишев, Президент KgPMU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C0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D5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gpmu-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228600"/>
            <a:ext cx="708894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200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D54F"/>
                </a:solidFill>
                <a:latin typeface="Calibri"/>
              </a:rPr>
              <a:t>01 · ВВЕДЕНИЕ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Кто мы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11064240" cy="1005840"/>
          </a:xfrm>
          <a:prstGeom prst="roundRect">
            <a:avLst/>
          </a:prstGeom>
          <a:solidFill>
            <a:srgbClr val="7A0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002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Calibri"/>
              </a:rPr>
              <a:t>Мекишев Урмат Казбекович — Президент KgPMU, сертифицированный эксперт IPMA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743200"/>
            <a:ext cx="109728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Более 15 лет опыта в управлении крупными инфраструктурными проектами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Инициатор внедрения стандартов IPMA ICB4 в госсекторе и бизнесе КР</a:t>
            </a:r>
          </a:p>
          <a:p>
            <a:pPr>
              <a:spcAft>
                <a:spcPts val="10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Почётный член: Бабаев Игбал Алиджанович (президент Азербайджанской ассоциации УП)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93776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D54F"/>
                </a:solidFill>
                <a:latin typeface="Georgia"/>
              </a:rPr>
              <a:t>«Создать в Кыргызстане профессиональное сообщество лидеров…»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3DCC9"/>
                </a:solidFill>
                <a:latin typeface="Calibri"/>
              </a:rPr>
              <a:t>KgPMU · ipma.kg · Ассоциация-заявитель IPMA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3DCC9"/>
                </a:solidFill>
                <a:latin typeface="Calibri"/>
              </a:rPr>
              <a:t>2/12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C0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D5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gpmu-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228600"/>
            <a:ext cx="708894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200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D54F"/>
                </a:solidFill>
                <a:latin typeface="Calibri"/>
              </a:rPr>
              <a:t>02 · МИССИЯ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Наша миссия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D54F"/>
                </a:solidFill>
                <a:latin typeface="Georgia"/>
              </a:rPr>
              <a:t>Создавать экосистему компетентных проектных лидеров и повышать зрелость управления проектами через образование, сертификацию и обмен практиками по стандартам IPMA ICB4.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108960"/>
            <a:ext cx="5486400" cy="1188720"/>
          </a:xfrm>
          <a:prstGeom prst="roundRect">
            <a:avLst/>
          </a:prstGeom>
          <a:solidFill>
            <a:srgbClr val="7A0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33756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D54F"/>
                </a:solidFill>
                <a:latin typeface="Calibri"/>
              </a:rPr>
              <a:t>Честность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7490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Прозрачность и этика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59" y="3108960"/>
            <a:ext cx="5486400" cy="1188720"/>
          </a:xfrm>
          <a:prstGeom prst="roundRect">
            <a:avLst/>
          </a:prstGeom>
          <a:solidFill>
            <a:srgbClr val="7A0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79" y="333756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D54F"/>
                </a:solidFill>
                <a:latin typeface="Calibri"/>
              </a:rPr>
              <a:t>Ответственность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79" y="37490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Профессионализм мирового уровня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480560"/>
            <a:ext cx="5486400" cy="1188720"/>
          </a:xfrm>
          <a:prstGeom prst="roundRect">
            <a:avLst/>
          </a:prstGeom>
          <a:solidFill>
            <a:srgbClr val="7A0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470916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D54F"/>
                </a:solidFill>
                <a:latin typeface="Calibri"/>
              </a:rPr>
              <a:t>Уважение и доверие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51206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Независимость оценки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59" y="4480560"/>
            <a:ext cx="5486400" cy="1188720"/>
          </a:xfrm>
          <a:prstGeom prst="roundRect">
            <a:avLst/>
          </a:prstGeom>
          <a:solidFill>
            <a:srgbClr val="7A0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79" y="470916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D54F"/>
                </a:solidFill>
                <a:latin typeface="Calibri"/>
              </a:rPr>
              <a:t>Открытость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79" y="51206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Международные практики на пользу КР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3DCC9"/>
                </a:solidFill>
                <a:latin typeface="Calibri"/>
              </a:rPr>
              <a:t>KgPMU · ipma.kg · Ассоциация-заявитель IPMA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3DCC9"/>
                </a:solidFill>
                <a:latin typeface="Calibri"/>
              </a:rPr>
              <a:t>3/12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C0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D5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gpmu-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228600"/>
            <a:ext cx="708894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200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D54F"/>
                </a:solidFill>
                <a:latin typeface="Calibri"/>
              </a:rPr>
              <a:t>03 · О КЫРГЫЗСТАНЕ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Стратегическое положение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554480"/>
            <a:ext cx="2743200" cy="1463040"/>
          </a:xfrm>
          <a:prstGeom prst="roundRect">
            <a:avLst/>
          </a:prstGeom>
          <a:solidFill>
            <a:srgbClr val="7A0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874519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D54F"/>
                </a:solidFill>
                <a:latin typeface="Calibri"/>
              </a:rPr>
              <a:t>≈200 000 км²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4688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3DCC9"/>
                </a:solidFill>
                <a:latin typeface="Calibri"/>
              </a:rPr>
              <a:t>Площадь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1554480"/>
            <a:ext cx="2743200" cy="1463040"/>
          </a:xfrm>
          <a:prstGeom prst="roundRect">
            <a:avLst/>
          </a:prstGeom>
          <a:solidFill>
            <a:srgbClr val="7A0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1874519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D54F"/>
                </a:solidFill>
                <a:latin typeface="Calibri"/>
              </a:rPr>
              <a:t>≈7,4 млн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4688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3DCC9"/>
                </a:solidFill>
                <a:latin typeface="Calibri"/>
              </a:rPr>
              <a:t>Население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59" y="1554480"/>
            <a:ext cx="2743200" cy="1463040"/>
          </a:xfrm>
          <a:prstGeom prst="roundRect">
            <a:avLst/>
          </a:prstGeom>
          <a:solidFill>
            <a:srgbClr val="7A0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19" y="1874519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D54F"/>
                </a:solidFill>
                <a:latin typeface="Calibri"/>
              </a:rPr>
              <a:t>Бишкек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19" y="24688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3DCC9"/>
                </a:solidFill>
                <a:latin typeface="Calibri"/>
              </a:rPr>
              <a:t>Штаб-квартира KgPMU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89719" y="1554480"/>
            <a:ext cx="2743200" cy="1463040"/>
          </a:xfrm>
          <a:prstGeom prst="roundRect">
            <a:avLst/>
          </a:prstGeom>
          <a:solidFill>
            <a:srgbClr val="7A0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26879" y="1874519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D54F"/>
                </a:solidFill>
                <a:latin typeface="Calibri"/>
              </a:rPr>
              <a:t>ЕАЭС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79" y="24688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F3DCC9"/>
                </a:solidFill>
                <a:latin typeface="Calibri"/>
              </a:rPr>
              <a:t>Единое экон. пространство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38328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Центральная Азия — пересечение маршрутов ЕАЭС и Большого Шёлкового пути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Соседи: Казахстан, Узбекистан, Таджикистан, Китай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Цифровизация госуправления создаёт устойчивый спрос на P3M-компетенции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3DCC9"/>
                </a:solidFill>
                <a:latin typeface="Calibri"/>
              </a:rPr>
              <a:t>KgPMU · ipma.kg · Ассоциация-заявитель IPMA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3DCC9"/>
                </a:solidFill>
                <a:latin typeface="Calibri"/>
              </a:rPr>
              <a:t>4/12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C0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D5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gpmu-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228600"/>
            <a:ext cx="708894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200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D54F"/>
                </a:solidFill>
                <a:latin typeface="Calibri"/>
              </a:rPr>
              <a:t>03 · О КЫРГЫЗСТАНЕ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Спрос на проектное управление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D54F"/>
                </a:solidFill>
                <a:latin typeface="Calibri"/>
              </a:rPr>
              <a:t>Госуправление · Строительство · IT · Медицина и НПО · Инфраструктура · Цифровизация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0"/>
            <a:ext cx="11064240" cy="2743200"/>
          </a:xfrm>
          <a:prstGeom prst="roundRect">
            <a:avLst/>
          </a:prstGeom>
          <a:solidFill>
            <a:srgbClr val="7A0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83464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Calibri"/>
              </a:rPr>
              <a:t>Большинство руководителей проектов — «случайные» PM без формальной сертификации. Это создаёт значительный потенциал для развития сертификации IPMA 4-L-C (уровни A–D).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3DCC9"/>
                </a:solidFill>
                <a:latin typeface="Calibri"/>
              </a:rPr>
              <a:t>KgPMU · ipma.kg · Ассоциация-заявитель IPMA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3DCC9"/>
                </a:solidFill>
                <a:latin typeface="Calibri"/>
              </a:rPr>
              <a:t>5/12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C0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D5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gpmu-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228600"/>
            <a:ext cx="708894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200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D54F"/>
                </a:solidFill>
                <a:latin typeface="Calibri"/>
              </a:rPr>
              <a:t>04 · ПУТЬ KGPMU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Что уже сделано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11064240" cy="914400"/>
          </a:xfrm>
          <a:prstGeom prst="roundRect">
            <a:avLst/>
          </a:prstGeom>
          <a:solidFill>
            <a:srgbClr val="7A0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D54F"/>
                </a:solidFill>
                <a:latin typeface="Calibri"/>
              </a:rPr>
              <a:t>апр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173736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Регистрация в Минюсте КР — ОО KgPMU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514600"/>
            <a:ext cx="11064240" cy="914400"/>
          </a:xfrm>
          <a:prstGeom prst="roundRect">
            <a:avLst/>
          </a:prstGeom>
          <a:solidFill>
            <a:srgbClr val="7A0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7889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D54F"/>
                </a:solidFill>
                <a:latin typeface="Calibri"/>
              </a:rPr>
              <a:t>июн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278892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Пакет документов направлен в IPMA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566160"/>
            <a:ext cx="11064240" cy="914400"/>
          </a:xfrm>
          <a:prstGeom prst="roundRect">
            <a:avLst/>
          </a:prstGeom>
          <a:solidFill>
            <a:srgbClr val="7A0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8404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D54F"/>
                </a:solidFill>
                <a:latin typeface="Calibri"/>
              </a:rPr>
              <a:t>июл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384048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Статус «Ассоциация-заявитель» (Applying MA)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617720"/>
            <a:ext cx="11064240" cy="914400"/>
          </a:xfrm>
          <a:prstGeom prst="roundRect">
            <a:avLst/>
          </a:prstGeom>
          <a:solidFill>
            <a:srgbClr val="7A0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8920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D54F"/>
                </a:solidFill>
                <a:latin typeface="Calibri"/>
              </a:rPr>
              <a:t>окт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3200" y="4892040"/>
            <a:ext cx="8503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План: Full MA + запуск сертификации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3DCC9"/>
                </a:solidFill>
                <a:latin typeface="Calibri"/>
              </a:rPr>
              <a:t>KgPMU · ipma.kg · Ассоциация-заявитель IPMA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3DCC9"/>
                </a:solidFill>
                <a:latin typeface="Calibri"/>
              </a:rPr>
              <a:t>6/12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C0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D5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gpmu-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228600"/>
            <a:ext cx="708894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200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D54F"/>
                </a:solidFill>
                <a:latin typeface="Calibri"/>
              </a:rPr>
              <a:t>05 · СТРАТЕГИЯ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Стратегические цели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173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Перейти от Ассоциации-заявителя к Full Member Association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Создать независимый национальный CB по системе IPMA 4-L-C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Рост членской базы: индивидуальное, студенческое, корпоративное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Продвигать ICB4 / OCB / PEB в госсекторе и бизнесе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Партнёрства с вузами, госорганами и бизнес-сообществом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Сотрудничество с MA Центральной Азии и ЕАЭС</a:t>
            </a:r>
          </a:p>
          <a:p>
            <a:pPr>
              <a:spcAft>
                <a:spcPts val="12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• Запустить Young Crew в Кыргызстане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3DCC9"/>
                </a:solidFill>
                <a:latin typeface="Calibri"/>
              </a:rPr>
              <a:t>KgPMU · ipma.kg · Ассоциация-заявитель IPMA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3DCC9"/>
                </a:solidFill>
                <a:latin typeface="Calibri"/>
              </a:rPr>
              <a:t>7/12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C0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D5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gpmu-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228600"/>
            <a:ext cx="708894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200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D54F"/>
                </a:solidFill>
                <a:latin typeface="Calibri"/>
              </a:rPr>
              <a:t>06 · СЕРТИФИКАЦИЯ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Certification Body и уровни IPMA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716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3DCC9"/>
                </a:solidFill>
                <a:latin typeface="Calibri"/>
              </a:rPr>
              <a:t>Независимый CB по IPMA 4-L-C. Оценка по ICB4: самооценка, экзамен, интервью.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86000"/>
            <a:ext cx="2743200" cy="2926080"/>
          </a:xfrm>
          <a:prstGeom prst="roundRect">
            <a:avLst/>
          </a:prstGeom>
          <a:solidFill>
            <a:srgbClr val="7A0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265176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D54F"/>
                </a:solidFill>
                <a:latin typeface="Calibri"/>
              </a:rPr>
              <a:t>Level 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38328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Projects Director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2286000"/>
            <a:ext cx="2743200" cy="2926080"/>
          </a:xfrm>
          <a:prstGeom prst="roundRect">
            <a:avLst/>
          </a:prstGeom>
          <a:solidFill>
            <a:srgbClr val="7A0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11880" y="265176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D54F"/>
                </a:solidFill>
                <a:latin typeface="Calibri"/>
              </a:rPr>
              <a:t>Level 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1880" y="338328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Senior PM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59" y="2286000"/>
            <a:ext cx="2743200" cy="2926080"/>
          </a:xfrm>
          <a:prstGeom prst="roundRect">
            <a:avLst/>
          </a:prstGeom>
          <a:solidFill>
            <a:srgbClr val="7A0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39" y="265176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D54F"/>
                </a:solidFill>
                <a:latin typeface="Calibri"/>
              </a:rPr>
              <a:t>Level 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39" y="338328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Project Manager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89719" y="2286000"/>
            <a:ext cx="2743200" cy="2926080"/>
          </a:xfrm>
          <a:prstGeom prst="roundRect">
            <a:avLst/>
          </a:prstGeom>
          <a:solidFill>
            <a:srgbClr val="7A0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72599" y="265176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D54F"/>
                </a:solidFill>
                <a:latin typeface="Calibri"/>
              </a:rPr>
              <a:t>Level 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72599" y="3383280"/>
            <a:ext cx="2377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FFFFFF"/>
                </a:solidFill>
                <a:latin typeface="Calibri"/>
              </a:rPr>
              <a:t>PM Associate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3DCC9"/>
                </a:solidFill>
                <a:latin typeface="Calibri"/>
              </a:rPr>
              <a:t>KgPMU · ipma.kg · Ассоциация-заявитель IPMA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3DCC9"/>
                </a:solidFill>
                <a:latin typeface="Calibri"/>
              </a:rPr>
              <a:t>8/12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C0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D5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gpmu-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228600"/>
            <a:ext cx="708894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200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D54F"/>
                </a:solidFill>
                <a:latin typeface="Calibri"/>
              </a:rPr>
              <a:t>07 · ЧЛЕНСТВО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Рост членской базы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63040"/>
            <a:ext cx="11064240" cy="777240"/>
          </a:xfrm>
          <a:prstGeom prst="roundRect">
            <a:avLst/>
          </a:prstGeom>
          <a:solidFill>
            <a:srgbClr val="7A0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916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D54F"/>
                </a:solidFill>
                <a:latin typeface="Calibri"/>
              </a:rPr>
              <a:t>2027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169164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15–20 индивидуальных членов, студенческий трек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331720"/>
            <a:ext cx="11064240" cy="777240"/>
          </a:xfrm>
          <a:prstGeom prst="roundRect">
            <a:avLst/>
          </a:prstGeom>
          <a:solidFill>
            <a:srgbClr val="7A0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560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D54F"/>
                </a:solidFill>
                <a:latin typeface="Calibri"/>
              </a:rPr>
              <a:t>2028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256032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50+ членов, первые корпоративные партнёры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200400"/>
            <a:ext cx="11064240" cy="777240"/>
          </a:xfrm>
          <a:prstGeom prst="roundRect">
            <a:avLst/>
          </a:prstGeom>
          <a:solidFill>
            <a:srgbClr val="7A0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4290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D54F"/>
                </a:solidFill>
                <a:latin typeface="Calibri"/>
              </a:rPr>
              <a:t>2029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342900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Calibri"/>
              </a:rPr>
              <a:t>100+ членов, устойчивый рост сертификации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297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D54F"/>
                </a:solidFill>
                <a:latin typeface="Calibri"/>
              </a:rPr>
              <a:t>Категории на ipma.kg: индивидуальное · студенческое · корпоративное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846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3DCC9"/>
                </a:solidFill>
                <a:latin typeface="Calibri"/>
              </a:rPr>
              <a:t>Скидки на сертификацию A–D (до 20%), материалы ICB4/OCB/PEB, нетворкинг, национальный реестр.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3DCC9"/>
                </a:solidFill>
                <a:latin typeface="Calibri"/>
              </a:rPr>
              <a:t>KgPMU · ipma.kg · Ассоциация-заявитель IPMA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3DCC9"/>
                </a:solidFill>
                <a:latin typeface="Calibri"/>
              </a:rPr>
              <a:t>9/12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C0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D5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gpmu-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228600"/>
            <a:ext cx="708894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200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D54F"/>
                </a:solidFill>
                <a:latin typeface="Calibri"/>
              </a:rPr>
              <a:t>08 · ЭКОСИСТЕМА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Экосистема и продвижение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417320"/>
            <a:ext cx="5486400" cy="1371600"/>
          </a:xfrm>
          <a:prstGeom prst="roundRect">
            <a:avLst/>
          </a:prstGeom>
          <a:solidFill>
            <a:srgbClr val="7A0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69164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D54F"/>
                </a:solidFill>
                <a:latin typeface="Calibri"/>
              </a:rPr>
              <a:t>Госсектор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Цифровые и инфраструктурные проекты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59" y="1417320"/>
            <a:ext cx="5486400" cy="1371600"/>
          </a:xfrm>
          <a:prstGeom prst="roundRect">
            <a:avLst/>
          </a:prstGeom>
          <a:solidFill>
            <a:srgbClr val="7A0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79" y="169164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D54F"/>
                </a:solidFill>
                <a:latin typeface="Calibri"/>
              </a:rPr>
              <a:t>Бизнес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79" y="21488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Компании и подрядчики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971800"/>
            <a:ext cx="5486400" cy="1371600"/>
          </a:xfrm>
          <a:prstGeom prst="roundRect">
            <a:avLst/>
          </a:prstGeom>
          <a:solidFill>
            <a:srgbClr val="7A0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24612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D54F"/>
                </a:solidFill>
                <a:latin typeface="Calibri"/>
              </a:rPr>
              <a:t>Образование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7033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Университеты Бишкека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59" y="2971800"/>
            <a:ext cx="5486400" cy="1371600"/>
          </a:xfrm>
          <a:prstGeom prst="roundRect">
            <a:avLst/>
          </a:prstGeom>
          <a:solidFill>
            <a:srgbClr val="7A0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79" y="324612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D54F"/>
                </a:solidFill>
                <a:latin typeface="Calibri"/>
              </a:rPr>
              <a:t>Обучение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79" y="37033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Подготовка к сертификации ICB4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3DCC9"/>
                </a:solidFill>
                <a:latin typeface="Calibri"/>
              </a:rPr>
              <a:t>KgPMU · ipma.kg · Ассоциация-заявитель IPMA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3DCC9"/>
                </a:solidFill>
                <a:latin typeface="Calibri"/>
              </a:rPr>
              <a:t>10/12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C0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D5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gpmu-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1400" y="228600"/>
            <a:ext cx="708894" cy="6400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2004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FD54F"/>
                </a:solidFill>
                <a:latin typeface="Calibri"/>
              </a:rPr>
              <a:t>09 · МОЛОДЁЖЬ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008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Georgia"/>
              </a:rPr>
              <a:t>Развитие Young Crew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• Знакомить молодёжь со стандартами и ценностями IPMA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• Привлекать студентов через студенческое членство KgPMU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• Интегрировать ICB4 в образовательные программы вузов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• Поддерживать путь к сертификации IPMA Level D</a:t>
            </a:r>
          </a:p>
          <a:p>
            <a:pPr>
              <a:spcAft>
                <a:spcPts val="1400"/>
              </a:spcAft>
            </a:pPr>
            <a:r>
              <a:rPr sz="1600" b="0">
                <a:solidFill>
                  <a:srgbClr val="FFFFFF"/>
                </a:solidFill>
                <a:latin typeface="Calibri"/>
              </a:rPr>
              <a:t>• Участие в международных молодёжных форумах Young Crew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3DCC9"/>
                </a:solidFill>
                <a:latin typeface="Calibri"/>
              </a:rPr>
              <a:t>KgPMU · ipma.kg · Ассоциация-заявитель IPMA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3DCC9"/>
                </a:solidFill>
                <a:latin typeface="Calibri"/>
              </a:rPr>
              <a:t>11/12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C0A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FD5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gpmu-logo-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1367" y="640080"/>
            <a:ext cx="3108960" cy="147637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228600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D54F"/>
                </a:solidFill>
                <a:latin typeface="Calibri"/>
              </a:rPr>
              <a:t>СПАСИБО ЗА ВНИМАНИЕ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974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  <a:latin typeface="Georgia"/>
              </a:rPr>
              <a:t>Мы приглашаем к сотрудничеству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38328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F3DCC9"/>
                </a:solidFill>
                <a:latin typeface="Calibri"/>
              </a:rPr>
              <a:t>KgPMU уже является Ассоциацией-заявителем IPMA и готова двигаться к полноправному членству и сертификации в Центральной Азии.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11680" y="4297680"/>
            <a:ext cx="8138160" cy="1554480"/>
          </a:xfrm>
          <a:prstGeom prst="roundRect">
            <a:avLst/>
          </a:prstGeom>
          <a:solidFill>
            <a:srgbClr val="7A0C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86000" y="4526280"/>
            <a:ext cx="7589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FFFFFF"/>
                </a:solidFill>
                <a:latin typeface="Calibri"/>
              </a:rPr>
              <a:t>Урмат Мекишев · Президент KgPMU
info@ipma.kg · +996 555 655 755 · ipma.kg
Бишкек, Кыргызская Республика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3DCC9"/>
                </a:solidFill>
                <a:latin typeface="Calibri"/>
              </a:rPr>
              <a:t>KgPMU · ipma.kg · Ассоциация-заявитель IPMA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24160" y="6446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F3DCC9"/>
                </a:solidFill>
                <a:latin typeface="Calibri"/>
              </a:rPr>
              <a:t>12/12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