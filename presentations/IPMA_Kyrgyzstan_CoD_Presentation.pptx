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303520"/>
            <a:ext cx="12191695" cy="1554480"/>
          </a:xfrm>
          <a:prstGeom prst="rect">
            <a:avLst/>
          </a:prstGeom>
          <a:solidFill>
            <a:srgbClr val="1A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2578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241280" y="457200"/>
            <a:ext cx="1234440" cy="1234440"/>
          </a:xfrm>
          <a:prstGeom prst="ellipse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442448" y="658368"/>
            <a:ext cx="822960" cy="822960"/>
          </a:xfrm>
          <a:prstGeom prst="ellipse">
            <a:avLst/>
          </a:prstGeom>
          <a:solidFill>
            <a:srgbClr val="E8C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4173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9A227"/>
                </a:solidFill>
                <a:latin typeface="Calibri"/>
              </a:rPr>
              <a:t>СОВЕТ ДЕЛЕГАТОВ (COUNCIL OF DELEGATES)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92024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>
                <a:solidFill>
                  <a:srgbClr val="FFFFFF"/>
                </a:solidFill>
                <a:latin typeface="Georgia"/>
              </a:rPr>
              <a:t>IPMA Кыргызстан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92608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C5D4DE"/>
                </a:solidFill>
                <a:latin typeface="Calibri"/>
              </a:rPr>
              <a:t>Ассоциация-кандидат в члены IPMA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5204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AB0BE"/>
                </a:solidFill>
                <a:latin typeface="Calibri"/>
              </a:rPr>
              <a:t>Презентация для Совета делегатов IPMA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62356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C5D4DE"/>
                </a:solidFill>
                <a:latin typeface="Calibri"/>
              </a:rPr>
              <a:t>Стандарты IPMA в Центральной Азии  ·  Бишкек, Кыргызская Республика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E6B8A"/>
                </a:solidFill>
                <a:latin typeface="Calibri"/>
              </a:rPr>
              <a:t>IPMA КЫРГЫЗСТАН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943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B1F33"/>
                </a:solidFill>
                <a:latin typeface="Georgia"/>
              </a:rPr>
              <a:t>Представление команды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2344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A6B78"/>
                </a:solidFill>
                <a:latin typeface="Calibri"/>
              </a:rPr>
              <a:t>Руководство ассоциации-кандидата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28800"/>
            <a:ext cx="5349240" cy="4114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828800"/>
            <a:ext cx="5349240" cy="9144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057400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E6B8A"/>
                </a:solidFill>
                <a:latin typeface="Calibri"/>
              </a:rPr>
              <a:t>ПРЕЗИДЕНТ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4663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B1F33"/>
                </a:solidFill>
                <a:latin typeface="Georgia"/>
              </a:rPr>
              <a:t>[Имя Фамилия]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926080"/>
            <a:ext cx="47091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300" b="0">
                <a:solidFill>
                  <a:srgbClr val="1C2834"/>
                </a:solidFill>
                <a:latin typeface="Calibri"/>
              </a:rPr>
              <a:t>• Практик / преподаватель в области управления проектами в Кыргызстане</a:t>
            </a:r>
          </a:p>
          <a:p>
            <a:pPr>
              <a:spcAft>
                <a:spcPts val="900"/>
              </a:spcAft>
            </a:pPr>
            <a:r>
              <a:rPr sz="1300" b="0">
                <a:solidFill>
                  <a:srgbClr val="1C2834"/>
                </a:solidFill>
                <a:latin typeface="Calibri"/>
              </a:rPr>
              <a:t>• Опыт формирования национального профессионального сообщества PM</a:t>
            </a:r>
          </a:p>
          <a:p>
            <a:pPr>
              <a:spcAft>
                <a:spcPts val="900"/>
              </a:spcAft>
            </a:pPr>
            <a:r>
              <a:rPr sz="1300" b="0">
                <a:solidFill>
                  <a:srgbClr val="1C2834"/>
                </a:solidFill>
                <a:latin typeface="Calibri"/>
              </a:rPr>
              <a:t>• Связи с университетами, госсектором и бизнес-партнёрами</a:t>
            </a:r>
          </a:p>
          <a:p>
            <a:pPr>
              <a:spcAft>
                <a:spcPts val="900"/>
              </a:spcAft>
            </a:pPr>
            <a:r>
              <a:rPr sz="1300" b="0">
                <a:solidFill>
                  <a:srgbClr val="1C2834"/>
                </a:solidFill>
                <a:latin typeface="Calibri"/>
              </a:rPr>
              <a:t>• Готовность выстраивать практику в соответствии с ценностями IPMA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828800"/>
            <a:ext cx="5349240" cy="4114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63640" y="1828800"/>
            <a:ext cx="5349240" cy="91440"/>
          </a:xfrm>
          <a:prstGeom prst="rect">
            <a:avLst/>
          </a:prstGeom>
          <a:solidFill>
            <a:srgbClr val="2E6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0" y="2057400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E6B8A"/>
                </a:solidFill>
                <a:latin typeface="Calibri"/>
              </a:rPr>
              <a:t>ВИЦЕ-ПРЕЗИДЕНТ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2331720"/>
            <a:ext cx="4663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B1F33"/>
                </a:solidFill>
                <a:latin typeface="Georgia"/>
              </a:rPr>
              <a:t>[Имя Фамилия]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2926080"/>
            <a:ext cx="47091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300" b="0">
                <a:solidFill>
                  <a:srgbClr val="1C2834"/>
                </a:solidFill>
                <a:latin typeface="Calibri"/>
              </a:rPr>
              <a:t>• Опыт в образовании, сертификационных траекториях и развитии сообщества</a:t>
            </a:r>
          </a:p>
          <a:p>
            <a:pPr>
              <a:spcAft>
                <a:spcPts val="900"/>
              </a:spcAft>
            </a:pPr>
            <a:r>
              <a:rPr sz="1300" b="0">
                <a:solidFill>
                  <a:srgbClr val="1C2834"/>
                </a:solidFill>
                <a:latin typeface="Calibri"/>
              </a:rPr>
              <a:t>• Фокус на Young Crew и работе с университетами</a:t>
            </a:r>
          </a:p>
          <a:p>
            <a:pPr>
              <a:spcAft>
                <a:spcPts val="900"/>
              </a:spcAft>
            </a:pPr>
            <a:r>
              <a:rPr sz="1300" b="0">
                <a:solidFill>
                  <a:srgbClr val="1C2834"/>
                </a:solidFill>
                <a:latin typeface="Calibri"/>
              </a:rPr>
              <a:t>• Автор / участник публикаций по управлению проектами и программами</a:t>
            </a:r>
          </a:p>
          <a:p>
            <a:pPr>
              <a:spcAft>
                <a:spcPts val="900"/>
              </a:spcAft>
            </a:pPr>
            <a:r>
              <a:rPr sz="1300" b="0">
                <a:solidFill>
                  <a:srgbClr val="1C2834"/>
                </a:solidFill>
                <a:latin typeface="Calibri"/>
              </a:rPr>
              <a:t>• Готовность совместно вести операционную работу и партнёрства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4652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A9AA8"/>
                </a:solidFill>
                <a:latin typeface="Calibri"/>
              </a:rPr>
              <a:t>IPMA Кыргызстан  ·  Ассоциация-кандидат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44652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8A9AA8"/>
                </a:solidFill>
                <a:latin typeface="Calibri"/>
              </a:rPr>
              <a:t>2 / 14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E6B8A"/>
                </a:solidFill>
                <a:latin typeface="Calibri"/>
              </a:rPr>
              <a:t>IPMA КЫРГЫЗСТАН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943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B1F33"/>
                </a:solidFill>
                <a:latin typeface="Georgia"/>
              </a:rPr>
              <a:t>Команда готова к запуску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2344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A6B78"/>
                </a:solidFill>
                <a:latin typeface="Calibri"/>
              </a:rPr>
              <a:t>Ключевые роли управления ассоциацией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920240"/>
            <a:ext cx="3566160" cy="17373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920240"/>
            <a:ext cx="91440" cy="173736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19456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B1F33"/>
                </a:solidFill>
                <a:latin typeface="Georgia"/>
              </a:rPr>
              <a:t>Президент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743200"/>
            <a:ext cx="3108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A6B78"/>
                </a:solidFill>
                <a:latin typeface="Calibri"/>
              </a:rPr>
              <a:t>Общее руководство и представительство на CoD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1920240"/>
            <a:ext cx="3566160" cy="17373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0" y="1920240"/>
            <a:ext cx="91440" cy="173736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63440" y="219456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B1F33"/>
                </a:solidFill>
                <a:latin typeface="Georgia"/>
              </a:rPr>
              <a:t>Вице-президент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63440" y="2743200"/>
            <a:ext cx="3108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A6B78"/>
                </a:solidFill>
                <a:latin typeface="Calibri"/>
              </a:rPr>
              <a:t>Членство, партнёры и операционная работа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8159" y="1920240"/>
            <a:ext cx="3566160" cy="17373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38159" y="1920240"/>
            <a:ext cx="91440" cy="173736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79" y="219456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B1F33"/>
                </a:solidFill>
                <a:latin typeface="Georgia"/>
              </a:rPr>
              <a:t>Руководитель сертификации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79" y="2743200"/>
            <a:ext cx="3108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A6B78"/>
                </a:solidFill>
                <a:latin typeface="Calibri"/>
              </a:rPr>
              <a:t>Создание CB, ассессоры и качество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886200"/>
            <a:ext cx="3566160" cy="17373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3886200"/>
            <a:ext cx="91440" cy="173736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416052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B1F33"/>
                </a:solidFill>
                <a:latin typeface="Georgia"/>
              </a:rPr>
              <a:t>Лидер Young Crew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4709160"/>
            <a:ext cx="3108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A6B78"/>
                </a:solidFill>
                <a:latin typeface="Calibri"/>
              </a:rPr>
              <a:t>Университеты и молодые специалисты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389120" y="3886200"/>
            <a:ext cx="3566160" cy="17373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389120" y="3886200"/>
            <a:ext cx="91440" cy="173736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663440" y="416052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B1F33"/>
                </a:solidFill>
                <a:latin typeface="Georgia"/>
              </a:rPr>
              <a:t>Коммуникации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63440" y="4709160"/>
            <a:ext cx="3108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A6B78"/>
                </a:solidFill>
                <a:latin typeface="Calibri"/>
              </a:rPr>
              <a:t>Экосистема, мероприятия и цифровой канал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138159" y="3886200"/>
            <a:ext cx="3566160" cy="17373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138159" y="3886200"/>
            <a:ext cx="91440" cy="173736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412479" y="416052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B1F33"/>
                </a:solidFill>
                <a:latin typeface="Georgia"/>
              </a:rPr>
              <a:t>Казначей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12479" y="4709160"/>
            <a:ext cx="3108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A6B78"/>
                </a:solidFill>
                <a:latin typeface="Calibri"/>
              </a:rPr>
              <a:t>Финансовое управление НКО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644652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A9AA8"/>
                </a:solidFill>
                <a:latin typeface="Calibri"/>
              </a:rPr>
              <a:t>IPMA Кыргызстан  ·  Ассоциация-кандидат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15600" y="644652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8A9AA8"/>
                </a:solidFill>
                <a:latin typeface="Calibri"/>
              </a:rPr>
              <a:t>3 / 14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E6B8A"/>
                </a:solidFill>
                <a:latin typeface="Calibri"/>
              </a:rPr>
              <a:t>IPMA КЫРГЫЗСТАН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943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B1F33"/>
                </a:solidFill>
                <a:latin typeface="Georgia"/>
              </a:rPr>
              <a:t>Стратегическое положение Кыргызстана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2344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A6B78"/>
                </a:solidFill>
                <a:latin typeface="Calibri"/>
              </a:rPr>
              <a:t>Центральноазиатский мост для профессионального управления проектами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28800"/>
            <a:ext cx="10972800" cy="5943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96596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E6B8A"/>
                </a:solidFill>
                <a:latin typeface="Calibri"/>
              </a:rPr>
              <a:t>Площадь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91840" y="1965960"/>
            <a:ext cx="8046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2834"/>
                </a:solidFill>
                <a:latin typeface="Calibri"/>
              </a:rPr>
              <a:t>199 900 км² — горное сердце Центральной Азии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514600"/>
            <a:ext cx="10972800" cy="5943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65176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E6B8A"/>
                </a:solidFill>
                <a:latin typeface="Calibri"/>
              </a:rPr>
              <a:t>Население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40" y="2651760"/>
            <a:ext cx="8046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2834"/>
                </a:solidFill>
                <a:latin typeface="Calibri"/>
              </a:rPr>
              <a:t>~7,2 млн (2024)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200400"/>
            <a:ext cx="10972800" cy="5943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33756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E6B8A"/>
                </a:solidFill>
                <a:latin typeface="Calibri"/>
              </a:rPr>
              <a:t>Столица / офис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91840" y="3337560"/>
            <a:ext cx="8046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2834"/>
                </a:solidFill>
                <a:latin typeface="Calibri"/>
              </a:rPr>
              <a:t>Бишкек — предполагаемая штаб-квартира ассоциации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886200"/>
            <a:ext cx="10972800" cy="5943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402336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E6B8A"/>
                </a:solidFill>
                <a:latin typeface="Calibri"/>
              </a:rPr>
              <a:t>Отрасли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91840" y="4023360"/>
            <a:ext cx="8046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2834"/>
                </a:solidFill>
                <a:latin typeface="Calibri"/>
              </a:rPr>
              <a:t>Энергетика и ГЭС, добыча, инфраструктура, сельское хозяйство, IT, госпрограммы инвестиций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4572000"/>
            <a:ext cx="10972800" cy="5943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470916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E6B8A"/>
                </a:solidFill>
                <a:latin typeface="Calibri"/>
              </a:rPr>
              <a:t>Регион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91840" y="4709160"/>
            <a:ext cx="8046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2834"/>
                </a:solidFill>
                <a:latin typeface="Calibri"/>
              </a:rPr>
              <a:t>Связующее звено между Центральной Азией, коридорными проектами и евразийскими рынками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5257800"/>
            <a:ext cx="10972800" cy="5943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539496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E6B8A"/>
                </a:solidFill>
                <a:latin typeface="Calibri"/>
              </a:rPr>
              <a:t>Возможность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91840" y="5394960"/>
            <a:ext cx="8046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2834"/>
                </a:solidFill>
                <a:latin typeface="Calibri"/>
              </a:rPr>
              <a:t>Растущий спрос на компетенции P3M в национальных и донорских проектах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644652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A9AA8"/>
                </a:solidFill>
                <a:latin typeface="Calibri"/>
              </a:rPr>
              <a:t>IPMA Кыргызстан  ·  Ассоциация-кандидат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15600" y="644652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8A9AA8"/>
                </a:solidFill>
                <a:latin typeface="Calibri"/>
              </a:rPr>
              <a:t>4 / 14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303520"/>
            <a:ext cx="12191695" cy="1554480"/>
          </a:xfrm>
          <a:prstGeom prst="rect">
            <a:avLst/>
          </a:prstGeom>
          <a:solidFill>
            <a:srgbClr val="1A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2578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55448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9A227"/>
                </a:solidFill>
                <a:latin typeface="Calibri"/>
              </a:rPr>
              <a:t>НАША МИССИЯ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57400"/>
            <a:ext cx="10515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FFFFFF"/>
                </a:solidFill>
                <a:latin typeface="Georgia"/>
              </a:rPr>
              <a:t>Продвигать и укреплять профессионализм в управлении проектами, программами и портфелями в Кыргызстане — чтобы государственные и частные проекты достигали целей эффективно, этично и в соответствии с ценностями и стандартами IPMA.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61772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5D4DE"/>
                </a:solidFill>
                <a:latin typeface="Calibri"/>
              </a:rPr>
              <a:t>Национальный дом экосистемы IPMA в Центральной Азии.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4652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7A8E9E"/>
                </a:solidFill>
                <a:latin typeface="Calibri"/>
              </a:rPr>
              <a:t>IPMA Кыргызстан  ·  Ассоциация-кандидат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4652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7A8E9E"/>
                </a:solidFill>
                <a:latin typeface="Calibri"/>
              </a:rPr>
              <a:t>5 / 14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E6B8A"/>
                </a:solidFill>
                <a:latin typeface="Calibri"/>
              </a:rPr>
              <a:t>IPMA КЫРГЫЗСТАН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943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B1F33"/>
                </a:solidFill>
                <a:latin typeface="Georgia"/>
              </a:rPr>
              <a:t>Стратегические цели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2344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A6B78"/>
                </a:solidFill>
                <a:latin typeface="Calibri"/>
              </a:rPr>
              <a:t>Приоритеты первых трёх лет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74519"/>
            <a:ext cx="502920" cy="502920"/>
          </a:xfrm>
          <a:prstGeom prst="roundRect">
            <a:avLst/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947671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C9A227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1920239"/>
            <a:ext cx="4754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2834"/>
                </a:solidFill>
                <a:latin typeface="Calibri"/>
              </a:rPr>
              <a:t>Сделать IPMA Кыргызстан признанным профессиональным органом в Кыргызской Республике.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880360"/>
            <a:ext cx="502920" cy="502920"/>
          </a:xfrm>
          <a:prstGeom prst="roundRect">
            <a:avLst/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953512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C9A227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2926080"/>
            <a:ext cx="4754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2834"/>
                </a:solidFill>
                <a:latin typeface="Calibri"/>
              </a:rPr>
              <a:t>Вырастить устойчивое сообщество индивидуальных и корпоративных членов.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886200"/>
            <a:ext cx="502920" cy="502920"/>
          </a:xfrm>
          <a:prstGeom prst="roundRect">
            <a:avLst/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3959352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C9A227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3931920"/>
            <a:ext cx="4754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2834"/>
                </a:solidFill>
                <a:latin typeface="Calibri"/>
              </a:rPr>
              <a:t>Создать сертифицирующий орган (CB) Кыргызстана по всем 4 уровням IPMA.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892040"/>
            <a:ext cx="502920" cy="502920"/>
          </a:xfrm>
          <a:prstGeom prst="roundRect">
            <a:avLst/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4965192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C9A227"/>
                </a:solidFill>
                <a:latin typeface="Calibri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25880" y="4937760"/>
            <a:ext cx="4754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2834"/>
                </a:solidFill>
                <a:latin typeface="Calibri"/>
              </a:rPr>
              <a:t>Обеспечить рост сертификации и высокое качество оценки.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09360" y="1874519"/>
            <a:ext cx="502920" cy="502920"/>
          </a:xfrm>
          <a:prstGeom prst="roundRect">
            <a:avLst/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1947671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C9A227"/>
                </a:solidFill>
                <a:latin typeface="Calibri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95160" y="1920239"/>
            <a:ext cx="4754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2834"/>
                </a:solidFill>
                <a:latin typeface="Calibri"/>
              </a:rPr>
              <a:t>Продвигать стандарт IPMA в Кыргызстане и шире в Центральной Азии.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09360" y="2880360"/>
            <a:ext cx="502920" cy="502920"/>
          </a:xfrm>
          <a:prstGeom prst="roundRect">
            <a:avLst/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0" y="2953512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C9A227"/>
                </a:solidFill>
                <a:latin typeface="Calibri"/>
              </a:rPr>
              <a:t>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2926080"/>
            <a:ext cx="4754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2834"/>
                </a:solidFill>
                <a:latin typeface="Calibri"/>
              </a:rPr>
              <a:t>Запустить и развивать Young Crew Кыргызстан вместе с университетами.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309360" y="3886200"/>
            <a:ext cx="502920" cy="502920"/>
          </a:xfrm>
          <a:prstGeom prst="roundRect">
            <a:avLst/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09360" y="3959352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C9A227"/>
                </a:solidFill>
                <a:latin typeface="Calibri"/>
              </a:rPr>
              <a:t>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95160" y="3931920"/>
            <a:ext cx="4754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2834"/>
                </a:solidFill>
                <a:latin typeface="Calibri"/>
              </a:rPr>
              <a:t>Участвовать в мероприятиях IPMA и организовывать собственные события и вебинары.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309360" y="4892040"/>
            <a:ext cx="502920" cy="502920"/>
          </a:xfrm>
          <a:prstGeom prst="roundRect">
            <a:avLst/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09360" y="4965192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C9A227"/>
                </a:solidFill>
                <a:latin typeface="Calibri"/>
              </a:rPr>
              <a:t>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95160" y="4937760"/>
            <a:ext cx="4754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2834"/>
                </a:solidFill>
                <a:latin typeface="Calibri"/>
              </a:rPr>
              <a:t>Выстроить партнёрства с провайдерами обучения, работодателями и другими MA.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644652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A9AA8"/>
                </a:solidFill>
                <a:latin typeface="Calibri"/>
              </a:rPr>
              <a:t>IPMA Кыргызстан  ·  Ассоциация-кандидат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15600" y="644652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8A9AA8"/>
                </a:solidFill>
                <a:latin typeface="Calibri"/>
              </a:rPr>
              <a:t>6 / 14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E6B8A"/>
                </a:solidFill>
                <a:latin typeface="Calibri"/>
              </a:rPr>
              <a:t>IPMA КЫРГЫЗСТАН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943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B1F33"/>
                </a:solidFill>
                <a:latin typeface="Georgia"/>
              </a:rPr>
              <a:t>Дорожная карта 2025–2027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2344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A6B78"/>
                </a:solidFill>
                <a:latin typeface="Calibri"/>
              </a:rPr>
              <a:t>Стабилизация · Рост · Масштаб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74519"/>
            <a:ext cx="3611880" cy="40233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874519"/>
            <a:ext cx="3611880" cy="86868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96596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B1F33"/>
                </a:solidFill>
                <a:latin typeface="Georgia"/>
              </a:rPr>
              <a:t>2025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33172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B1F33"/>
                </a:solidFill>
                <a:latin typeface="Calibri"/>
              </a:rPr>
              <a:t>Создание и запуск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971800"/>
            <a:ext cx="31089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300" b="0">
                <a:solidFill>
                  <a:srgbClr val="1C2834"/>
                </a:solidFill>
                <a:latin typeface="Calibri"/>
              </a:rPr>
              <a:t>• Зарегистрировать некоммерческую ассоциацию</a:t>
            </a:r>
          </a:p>
          <a:p>
            <a:pPr>
              <a:spcAft>
                <a:spcPts val="1100"/>
              </a:spcAft>
            </a:pPr>
            <a:r>
              <a:rPr sz="1300" b="0">
                <a:solidFill>
                  <a:srgbClr val="1C2834"/>
                </a:solidFill>
                <a:latin typeface="Calibri"/>
              </a:rPr>
              <a:t>• Стать ассоциацией-кандидатом IPMA (AMA)</a:t>
            </a:r>
          </a:p>
          <a:p>
            <a:pPr>
              <a:spcAft>
                <a:spcPts val="1100"/>
              </a:spcAft>
            </a:pPr>
            <a:r>
              <a:rPr sz="1300" b="0">
                <a:solidFill>
                  <a:srgbClr val="1C2834"/>
                </a:solidFill>
                <a:latin typeface="Calibri"/>
              </a:rPr>
              <a:t>• Сформировать совет и операционную модель</a:t>
            </a:r>
          </a:p>
          <a:p>
            <a:pPr>
              <a:spcAft>
                <a:spcPts val="1100"/>
              </a:spcAft>
            </a:pPr>
            <a:r>
              <a:rPr sz="1300" b="0">
                <a:solidFill>
                  <a:srgbClr val="1C2834"/>
                </a:solidFill>
                <a:latin typeface="Calibri"/>
              </a:rPr>
              <a:t>• Цель: ~25 членов-основателей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34840" y="1874519"/>
            <a:ext cx="3611880" cy="40233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34840" y="1874519"/>
            <a:ext cx="3611880" cy="868680"/>
          </a:xfrm>
          <a:prstGeom prst="rect">
            <a:avLst/>
          </a:prstGeom>
          <a:solidFill>
            <a:srgbClr val="2E6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63440" y="196596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Georgia"/>
              </a:rPr>
              <a:t>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3440" y="233172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Продвижение и сертификация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09160" y="2971800"/>
            <a:ext cx="31089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300" b="0">
                <a:solidFill>
                  <a:srgbClr val="1C2834"/>
                </a:solidFill>
                <a:latin typeface="Calibri"/>
              </a:rPr>
              <a:t>• Рост членства и узнаваемости</a:t>
            </a:r>
          </a:p>
          <a:p>
            <a:pPr>
              <a:spcAft>
                <a:spcPts val="1100"/>
              </a:spcAft>
            </a:pPr>
            <a:r>
              <a:rPr sz="1300" b="0">
                <a:solidFill>
                  <a:srgbClr val="1C2834"/>
                </a:solidFill>
                <a:latin typeface="Calibri"/>
              </a:rPr>
              <a:t>• Запуск пути к Certification Body</a:t>
            </a:r>
          </a:p>
          <a:p>
            <a:pPr>
              <a:spcAft>
                <a:spcPts val="1100"/>
              </a:spcAft>
            </a:pPr>
            <a:r>
              <a:rPr sz="1300" b="0">
                <a:solidFill>
                  <a:srgbClr val="1C2834"/>
                </a:solidFill>
                <a:latin typeface="Calibri"/>
              </a:rPr>
              <a:t>• Работа с вузами и корпоративным сектором</a:t>
            </a:r>
          </a:p>
          <a:p>
            <a:pPr>
              <a:spcAft>
                <a:spcPts val="1100"/>
              </a:spcAft>
            </a:pPr>
            <a:r>
              <a:rPr sz="1300" b="0">
                <a:solidFill>
                  <a:srgbClr val="1C2834"/>
                </a:solidFill>
                <a:latin typeface="Calibri"/>
              </a:rPr>
              <a:t>• Цель: ~60 членов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0" y="1874519"/>
            <a:ext cx="3611880" cy="40233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29600" y="1874519"/>
            <a:ext cx="3611880" cy="868680"/>
          </a:xfrm>
          <a:prstGeom prst="rect">
            <a:avLst/>
          </a:prstGeom>
          <a:solidFill>
            <a:srgbClr val="B02A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58200" y="196596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Georgia"/>
              </a:rPr>
              <a:t>2027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58200" y="233172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Масштаб и результаты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2971800"/>
            <a:ext cx="31089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300" b="0">
                <a:solidFill>
                  <a:srgbClr val="1C2834"/>
                </a:solidFill>
                <a:latin typeface="Calibri"/>
              </a:rPr>
              <a:t>• Представить результаты семье IPMA</a:t>
            </a:r>
          </a:p>
          <a:p>
            <a:pPr>
              <a:spcAft>
                <a:spcPts val="1100"/>
              </a:spcAft>
            </a:pPr>
            <a:r>
              <a:rPr sz="1300" b="0">
                <a:solidFill>
                  <a:srgbClr val="1C2834"/>
                </a:solidFill>
                <a:latin typeface="Calibri"/>
              </a:rPr>
              <a:t>• Увеличить объёмы сертификации</a:t>
            </a:r>
          </a:p>
          <a:p>
            <a:pPr>
              <a:spcAft>
                <a:spcPts val="1100"/>
              </a:spcAft>
            </a:pPr>
            <a:r>
              <a:rPr sz="1300" b="0">
                <a:solidFill>
                  <a:srgbClr val="1C2834"/>
                </a:solidFill>
                <a:latin typeface="Calibri"/>
              </a:rPr>
              <a:t>• Региональное сотрудничество в ЦА</a:t>
            </a:r>
          </a:p>
          <a:p>
            <a:pPr>
              <a:spcAft>
                <a:spcPts val="1100"/>
              </a:spcAft>
            </a:pPr>
            <a:r>
              <a:rPr sz="1300" b="0">
                <a:solidFill>
                  <a:srgbClr val="1C2834"/>
                </a:solidFill>
                <a:latin typeface="Calibri"/>
              </a:rPr>
              <a:t>• Цель: 100+ членов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4652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A9AA8"/>
                </a:solidFill>
                <a:latin typeface="Calibri"/>
              </a:rPr>
              <a:t>IPMA Кыргызстан  ·  Ассоциация-кандидат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0" y="644652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8A9AA8"/>
                </a:solidFill>
                <a:latin typeface="Calibri"/>
              </a:rPr>
              <a:t>7 / 14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E6B8A"/>
                </a:solidFill>
                <a:latin typeface="Calibri"/>
              </a:rPr>
              <a:t>IPMA КЫРГЫЗСТАН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943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B1F33"/>
                </a:solidFill>
                <a:latin typeface="Georgia"/>
              </a:rPr>
              <a:t>Мы будем наращивать членство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2344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A6B78"/>
                </a:solidFill>
                <a:latin typeface="Calibri"/>
              </a:rPr>
              <a:t>Создание первого национального сообщества IPMA в Кыргызстане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78308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400" b="0">
                <a:solidFill>
                  <a:srgbClr val="1C2834"/>
                </a:solidFill>
                <a:latin typeface="Calibri"/>
              </a:rPr>
              <a:t>Сегодня в стране нет действующей Member Association IPMA.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1C2834"/>
                </a:solidFill>
                <a:latin typeface="Calibri"/>
              </a:rPr>
              <a:t>Мы откроем членство с понятной ценностью для специалистов, работодателей и образования.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880360"/>
            <a:ext cx="5440680" cy="12344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3108960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B1F33"/>
                </a:solidFill>
                <a:latin typeface="Georgia"/>
              </a:rPr>
              <a:t>Индивидуальные члены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3520440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A6B78"/>
                </a:solidFill>
                <a:latin typeface="Calibri"/>
              </a:rPr>
              <a:t>Практики, которым нужны компетенции, сеть и признание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2880360"/>
            <a:ext cx="5440680" cy="12344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29400" y="3108960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B1F33"/>
                </a:solidFill>
                <a:latin typeface="Georgia"/>
              </a:rPr>
              <a:t>Корпоративные члены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3520440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A6B78"/>
                </a:solidFill>
                <a:latin typeface="Calibri"/>
              </a:rPr>
              <a:t>Работодатели, инвестирующие в стандарты и проектные способности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297680"/>
            <a:ext cx="5440680" cy="12344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526280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B1F33"/>
                </a:solidFill>
                <a:latin typeface="Georgia"/>
              </a:rPr>
              <a:t>Образовательные организации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4937760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A6B78"/>
                </a:solidFill>
                <a:latin typeface="Calibri"/>
              </a:rPr>
              <a:t>Университеты, встраивающие IPMA в учебные программы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09360" y="4297680"/>
            <a:ext cx="5440680" cy="12344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29400" y="4526280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B1F33"/>
                </a:solidFill>
                <a:latin typeface="Georgia"/>
              </a:rPr>
              <a:t>Провайдеры обучения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29400" y="4937760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A6B78"/>
                </a:solidFill>
                <a:latin typeface="Calibri"/>
              </a:rPr>
              <a:t>ATO и партнёры, поддерживающие пути сертификации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44652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A9AA8"/>
                </a:solidFill>
                <a:latin typeface="Calibri"/>
              </a:rPr>
              <a:t>IPMA Кыргызстан  ·  Ассоциация-кандидат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0" y="644652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8A9AA8"/>
                </a:solidFill>
                <a:latin typeface="Calibri"/>
              </a:rPr>
              <a:t>8 / 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E6B8A"/>
                </a:solidFill>
                <a:latin typeface="Calibri"/>
              </a:rPr>
              <a:t>IPMA КЫРГЫЗСТАН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943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B1F33"/>
                </a:solidFill>
                <a:latin typeface="Georgia"/>
              </a:rPr>
              <a:t>Совместное создание Certification Body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2344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A6B78"/>
                </a:solidFill>
                <a:latin typeface="Calibri"/>
              </a:rPr>
              <a:t>Качественная сертификация через сотрудничество с опытными MA / CB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965960"/>
            <a:ext cx="109728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1500" b="0">
                <a:solidFill>
                  <a:srgbClr val="1C2834"/>
                </a:solidFill>
                <a:latin typeface="Calibri"/>
              </a:rPr>
              <a:t>• Предложить все 4 уровня сертификации IPMA, при необходимости — поэтапный старт</a:t>
            </a:r>
          </a:p>
          <a:p>
            <a:pPr>
              <a:spcAft>
                <a:spcPts val="1300"/>
              </a:spcAft>
            </a:pPr>
            <a:r>
              <a:rPr sz="1500" b="0">
                <a:solidFill>
                  <a:srgbClr val="1C2834"/>
                </a:solidFill>
                <a:latin typeface="Calibri"/>
              </a:rPr>
              <a:t>• Сотрудничать с действующими MA / CB для гармонизации процессов и качества</a:t>
            </a:r>
          </a:p>
          <a:p>
            <a:pPr>
              <a:spcAft>
                <a:spcPts val="1300"/>
              </a:spcAft>
            </a:pPr>
            <a:r>
              <a:rPr sz="1500" b="0">
                <a:solidFill>
                  <a:srgbClr val="1C2834"/>
                </a:solidFill>
                <a:latin typeface="Calibri"/>
              </a:rPr>
              <a:t>• Сформировать пул ассессоров и при необходимости делить ресурсы в регионе</a:t>
            </a:r>
          </a:p>
          <a:p>
            <a:pPr>
              <a:spcAft>
                <a:spcPts val="1300"/>
              </a:spcAft>
            </a:pPr>
            <a:r>
              <a:rPr sz="1500" b="0">
                <a:solidFill>
                  <a:srgbClr val="1C2834"/>
                </a:solidFill>
                <a:latin typeface="Calibri"/>
              </a:rPr>
              <a:t>• При необходимости аутсорсить обработку экзаменов для надёжности и скорости</a:t>
            </a:r>
          </a:p>
          <a:p>
            <a:pPr>
              <a:spcAft>
                <a:spcPts val="1300"/>
              </a:spcAft>
            </a:pPr>
            <a:r>
              <a:rPr sz="1500" b="0">
                <a:solidFill>
                  <a:srgbClr val="1C2834"/>
                </a:solidFill>
                <a:latin typeface="Calibri"/>
              </a:rPr>
              <a:t>• Защищать опыт кандидатов и репутацию бренда IPMA</a:t>
            </a:r>
          </a:p>
          <a:p>
            <a:pPr>
              <a:spcAft>
                <a:spcPts val="1300"/>
              </a:spcAft>
            </a:pPr>
            <a:r>
              <a:rPr sz="1500" b="0">
                <a:solidFill>
                  <a:srgbClr val="1C2834"/>
                </a:solidFill>
                <a:latin typeface="Calibri"/>
              </a:rPr>
              <a:t>• Реинвестировать доходы от сертификации в развитие сообщества и Young Crew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4652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A9AA8"/>
                </a:solidFill>
                <a:latin typeface="Calibri"/>
              </a:rPr>
              <a:t>IPMA Кыргызстан  ·  Ассоциация-кандидат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4652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8A9AA8"/>
                </a:solidFill>
                <a:latin typeface="Calibri"/>
              </a:rPr>
              <a:t>9 / 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E6B8A"/>
                </a:solidFill>
                <a:latin typeface="Calibri"/>
              </a:rPr>
              <a:t>IPMA КЫРГЫЗСТАН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943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B1F33"/>
                </a:solidFill>
                <a:latin typeface="Georgia"/>
              </a:rPr>
              <a:t>Продвижение экосистемы IPMA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2344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A6B78"/>
                </a:solidFill>
                <a:latin typeface="Calibri"/>
              </a:rPr>
              <a:t>Видимость, знания и каналы сообщества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920240"/>
            <a:ext cx="3611880" cy="17830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920240"/>
            <a:ext cx="3611880" cy="73152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240280"/>
            <a:ext cx="3063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B1F33"/>
                </a:solidFill>
                <a:latin typeface="Georgia"/>
              </a:rPr>
              <a:t>Сайт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743200"/>
            <a:ext cx="3063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A6B78"/>
                </a:solidFill>
                <a:latin typeface="Calibri"/>
              </a:rPr>
              <a:t>Официальный ресурс о ценностях IPMA, событиях и путях развития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34840" y="1920240"/>
            <a:ext cx="3611880" cy="17830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34840" y="1920240"/>
            <a:ext cx="3611880" cy="73152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09160" y="2240280"/>
            <a:ext cx="3063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B1F33"/>
                </a:solidFill>
                <a:latin typeface="Georgia"/>
              </a:rPr>
              <a:t>Соцсети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09160" y="2743200"/>
            <a:ext cx="3063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A6B78"/>
                </a:solidFill>
                <a:latin typeface="Calibri"/>
              </a:rPr>
              <a:t>LinkedIn, Instagram и профессиональные каналы в КР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0" y="1920240"/>
            <a:ext cx="3611880" cy="17830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9600" y="1920240"/>
            <a:ext cx="3611880" cy="73152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03920" y="2240280"/>
            <a:ext cx="3063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B1F33"/>
                </a:solidFill>
                <a:latin typeface="Georgia"/>
              </a:rPr>
              <a:t>Университеты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20" y="2743200"/>
            <a:ext cx="3063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A6B78"/>
                </a:solidFill>
                <a:latin typeface="Calibri"/>
              </a:rPr>
              <a:t>Гостевые лекции и связи с программами в Бишкеке и регионах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931920"/>
            <a:ext cx="3611880" cy="17830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3931920"/>
            <a:ext cx="3611880" cy="73152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4251960"/>
            <a:ext cx="3063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B1F33"/>
                </a:solidFill>
                <a:latin typeface="Georgia"/>
              </a:rPr>
              <a:t>Мероприятия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4754880"/>
            <a:ext cx="3063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A6B78"/>
                </a:solidFill>
                <a:latin typeface="Calibri"/>
              </a:rPr>
              <a:t>Вебинары, конференции и форумы обмена знаниями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434840" y="3931920"/>
            <a:ext cx="3611880" cy="17830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434840" y="3931920"/>
            <a:ext cx="3611880" cy="73152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09160" y="4251960"/>
            <a:ext cx="3063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B1F33"/>
                </a:solidFill>
                <a:latin typeface="Georgia"/>
              </a:rPr>
              <a:t>Публикации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09160" y="4754880"/>
            <a:ext cx="3063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A6B78"/>
                </a:solidFill>
                <a:latin typeface="Calibri"/>
              </a:rPr>
              <a:t>Профессиональные статьи и кейсы из местной практики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229600" y="3931920"/>
            <a:ext cx="3611880" cy="17830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229600" y="3931920"/>
            <a:ext cx="3611880" cy="73152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03920" y="4251960"/>
            <a:ext cx="3063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B1F33"/>
                </a:solidFill>
                <a:latin typeface="Georgia"/>
              </a:rPr>
              <a:t>Региональные связи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03920" y="4754880"/>
            <a:ext cx="3063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A6B78"/>
                </a:solidFill>
                <a:latin typeface="Calibri"/>
              </a:rPr>
              <a:t>Обмен с MA Центральной Азии и соседних стран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644652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A9AA8"/>
                </a:solidFill>
                <a:latin typeface="Calibri"/>
              </a:rPr>
              <a:t>IPMA Кыргызстан  ·  Ассоциация-кандидат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15600" y="644652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8A9AA8"/>
                </a:solidFill>
                <a:latin typeface="Calibri"/>
              </a:rPr>
              <a:t>10 / 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E6B8A"/>
                </a:solidFill>
                <a:latin typeface="Calibri"/>
              </a:rPr>
              <a:t>IPMA КЫРГЫЗСТАН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943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B1F33"/>
                </a:solidFill>
                <a:latin typeface="Georgia"/>
              </a:rPr>
              <a:t>Развитие Young Crew Кыргызстан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2344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A6B78"/>
                </a:solidFill>
                <a:latin typeface="Calibri"/>
              </a:rPr>
              <a:t>Старт карьеры в управлении проектами со стандартами IPMA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965960"/>
            <a:ext cx="109728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500" b="0">
                <a:solidFill>
                  <a:srgbClr val="1C2834"/>
                </a:solidFill>
                <a:latin typeface="Calibri"/>
              </a:rPr>
              <a:t>• Знакомить амбициозную молодёжь со стандартами, ценностями и глобальным сообществом IPMA</a:t>
            </a:r>
          </a:p>
          <a:p>
            <a:pPr>
              <a:spcAft>
                <a:spcPts val="1400"/>
              </a:spcAft>
            </a:pPr>
            <a:r>
              <a:rPr sz="1500" b="0">
                <a:solidFill>
                  <a:srgbClr val="1C2834"/>
                </a:solidFill>
                <a:latin typeface="Calibri"/>
              </a:rPr>
              <a:t>• Привлекать студентов и молодых специалистов в Young Crew Кыргызстан</a:t>
            </a:r>
          </a:p>
          <a:p>
            <a:pPr>
              <a:spcAft>
                <a:spcPts val="1400"/>
              </a:spcAft>
            </a:pPr>
            <a:r>
              <a:rPr sz="1500" b="0">
                <a:solidFill>
                  <a:srgbClr val="1C2834"/>
                </a:solidFill>
                <a:latin typeface="Calibri"/>
              </a:rPr>
              <a:t>• Партнёрство с университетами Бишкека и регионов для обогащения образования PM</a:t>
            </a:r>
          </a:p>
          <a:p>
            <a:pPr>
              <a:spcAft>
                <a:spcPts val="1400"/>
              </a:spcAft>
            </a:pPr>
            <a:r>
              <a:rPr sz="1500" b="0">
                <a:solidFill>
                  <a:srgbClr val="1C2834"/>
                </a:solidFill>
                <a:latin typeface="Calibri"/>
              </a:rPr>
              <a:t>• Поддерживать путь от учебных программ к сертификации IPMA Level D</a:t>
            </a:r>
          </a:p>
          <a:p>
            <a:pPr>
              <a:spcAft>
                <a:spcPts val="1400"/>
              </a:spcAft>
            </a:pPr>
            <a:r>
              <a:rPr sz="1500" b="0">
                <a:solidFill>
                  <a:srgbClr val="1C2834"/>
                </a:solidFill>
                <a:latin typeface="Calibri"/>
              </a:rPr>
              <a:t>• Связывать таланты Young Crew с работодателями, которым нужны проектные компетенции</a:t>
            </a:r>
          </a:p>
          <a:p>
            <a:pPr>
              <a:spcAft>
                <a:spcPts val="1400"/>
              </a:spcAft>
            </a:pPr>
            <a:r>
              <a:rPr sz="1500" b="0">
                <a:solidFill>
                  <a:srgbClr val="1C2834"/>
                </a:solidFill>
                <a:latin typeface="Calibri"/>
              </a:rPr>
              <a:t>• Развивать региональное сотрудничество Young Crew в Центральной Азии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4652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A9AA8"/>
                </a:solidFill>
                <a:latin typeface="Calibri"/>
              </a:rPr>
              <a:t>IPMA Кыргызстан  ·  Ассоциация-кандидат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4652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8A9AA8"/>
                </a:solidFill>
                <a:latin typeface="Calibri"/>
              </a:rPr>
              <a:t>11 / 14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E6B8A"/>
                </a:solidFill>
                <a:latin typeface="Calibri"/>
              </a:rPr>
              <a:t>IPMA КЫРГЫЗСТАН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943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B1F33"/>
                </a:solidFill>
                <a:latin typeface="Georgia"/>
              </a:rPr>
              <a:t>Наш особый вклад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2344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A6B78"/>
                </a:solidFill>
                <a:latin typeface="Calibri"/>
              </a:rPr>
              <a:t>Почему IPMA Кыргызстан важен для семьи IPMA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28800"/>
            <a:ext cx="10972800" cy="9144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828800"/>
            <a:ext cx="109728" cy="91440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38528"/>
            <a:ext cx="10241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B1F33"/>
                </a:solidFill>
                <a:latin typeface="Georgia"/>
              </a:rPr>
              <a:t>Присутствие в Центральной Азии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267712"/>
            <a:ext cx="10241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A6B78"/>
                </a:solidFill>
                <a:latin typeface="Calibri"/>
              </a:rPr>
              <a:t>Расширить присутствие IPMA в стратегически важном регионе с растущими инвестициями в инфраструктуру и энергетику.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880360"/>
            <a:ext cx="10972800" cy="9144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880360"/>
            <a:ext cx="109728" cy="914400"/>
          </a:xfrm>
          <a:prstGeom prst="rect">
            <a:avLst/>
          </a:prstGeom>
          <a:solidFill>
            <a:srgbClr val="2E6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2990088"/>
            <a:ext cx="10241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B1F33"/>
                </a:solidFill>
                <a:latin typeface="Georgia"/>
              </a:rPr>
              <a:t>Двуязычный охват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3319272"/>
            <a:ext cx="10241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A6B78"/>
                </a:solidFill>
                <a:latin typeface="Calibri"/>
              </a:rPr>
              <a:t>Работать с русско- и кыргызскоязычными специалистами и открывать доступные пути в экосистему IPMA.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31920"/>
            <a:ext cx="10972800" cy="9144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3931920"/>
            <a:ext cx="109728" cy="91440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4041648"/>
            <a:ext cx="10241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B1F33"/>
                </a:solidFill>
                <a:latin typeface="Georgia"/>
              </a:rPr>
              <a:t>Государственные и донорские проекты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4370832"/>
            <a:ext cx="10241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A6B78"/>
                </a:solidFill>
                <a:latin typeface="Calibri"/>
              </a:rPr>
              <a:t>Повышать компетентность там, где национальные программы и международные проекты нуждаются в надёжной практике P3M.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4983479"/>
            <a:ext cx="10972800" cy="9144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4983479"/>
            <a:ext cx="109728" cy="914400"/>
          </a:xfrm>
          <a:prstGeom prst="rect">
            <a:avLst/>
          </a:prstGeom>
          <a:solidFill>
            <a:srgbClr val="2E6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5840" y="5093207"/>
            <a:ext cx="10241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B1F33"/>
                </a:solidFill>
                <a:latin typeface="Georgia"/>
              </a:rPr>
              <a:t>Партнёрство с другими MA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" y="5422391"/>
            <a:ext cx="10241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A6B78"/>
                </a:solidFill>
                <a:latin typeface="Calibri"/>
              </a:rPr>
              <a:t>Учиться у зрелых ассоциаций и CB и делиться опытом emerging-рынков проектной среды.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44652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A9AA8"/>
                </a:solidFill>
                <a:latin typeface="Calibri"/>
              </a:rPr>
              <a:t>IPMA Кыргызстан  ·  Ассоциация-кандидат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15600" y="644652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8A9AA8"/>
                </a:solidFill>
                <a:latin typeface="Calibri"/>
              </a:rPr>
              <a:t>12 / 14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303520"/>
            <a:ext cx="12191695" cy="1554480"/>
          </a:xfrm>
          <a:prstGeom prst="rect">
            <a:avLst/>
          </a:prstGeom>
          <a:solidFill>
            <a:srgbClr val="1A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2578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7160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9A227"/>
                </a:solidFill>
                <a:latin typeface="Calibri"/>
              </a:rPr>
              <a:t>МЫ ПРОСИМ ВАШЕЙ ПОДДЕРЖКИ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920240"/>
            <a:ext cx="105156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Georgia"/>
              </a:rPr>
              <a:t>Команда IPMA Кыргызстан готова создать самостоятельную Member Association, вырастить национальное сообщество P3M и сотрудничать с IPMA глобально и через другие ассоциации.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148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C5D4DE"/>
                </a:solidFill>
                <a:latin typeface="Calibri"/>
              </a:rPr>
              <a:t>Мы уважительно просим поддержать нас как ассоциацию-кандидата — и с нетерпением ждём возможности привнести голос Центральной Азии в семью IPMA.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4652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7A8E9E"/>
                </a:solidFill>
                <a:latin typeface="Calibri"/>
              </a:rPr>
              <a:t>IPMA Кыргызстан  ·  Ассоциация-кандидат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4652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7A8E9E"/>
                </a:solidFill>
                <a:latin typeface="Calibri"/>
              </a:rPr>
              <a:t>13 / 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0B1F33"/>
                </a:solidFill>
                <a:latin typeface="Georgia"/>
              </a:rPr>
              <a:t>Спасибо за внимание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65176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5A6B78"/>
                </a:solidFill>
                <a:latin typeface="Calibri"/>
              </a:rPr>
              <a:t>Ждём сотрудничества в семье IPMA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3429000"/>
            <a:ext cx="10515600" cy="1828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3703320"/>
            <a:ext cx="9875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E6B8A"/>
                </a:solidFill>
                <a:latin typeface="Calibri"/>
              </a:rPr>
              <a:t>КОНТАКТЫ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411480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C2834"/>
                </a:solidFill>
                <a:latin typeface="Calibri"/>
              </a:rPr>
              <a:t>Президент:  [имя]@[организация].kg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461772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C2834"/>
                </a:solidFill>
                <a:latin typeface="Calibri"/>
              </a:rPr>
              <a:t>Вице-президент:  [имя]@[организация].kg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56235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B1F33"/>
                </a:solidFill>
                <a:latin typeface="Calibri"/>
              </a:rPr>
              <a:t>Вопросы?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4652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A9AA8"/>
                </a:solidFill>
                <a:latin typeface="Calibri"/>
              </a:rPr>
              <a:t>IPMA Кыргызстан  ·  Ассоциация-кандидат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0" y="644652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8A9AA8"/>
                </a:solidFill>
                <a:latin typeface="Calibri"/>
              </a:rPr>
              <a:t>14 / 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