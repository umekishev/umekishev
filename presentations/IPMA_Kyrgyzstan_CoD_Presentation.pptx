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521208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3291840" cy="365760"/>
          </a:xfrm>
          <a:prstGeom prst="roundRect">
            <a:avLst/>
          </a:prstGeom>
          <a:solidFill>
            <a:srgbClr val="0F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6984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8C"/>
                </a:solidFill>
                <a:latin typeface="Arial"/>
              </a:rPr>
              <a:t>COUNCIL OF DELEGATES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Кыргызское объединение
управления проектами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7CBD8"/>
                </a:solidFill>
                <a:latin typeface="Arial"/>
              </a:rPr>
              <a:t>ОО «KgPMU» · Kyrgyz Project Management Union · ipma.kg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F9AAB"/>
                </a:solidFill>
                <a:latin typeface="Arial"/>
              </a:rPr>
              <a:t>Представляет: Урмат Мекишев, Президент KgPMU</a:t>
            </a:r>
          </a:p>
        </p:txBody>
      </p:sp>
      <p:pic>
        <p:nvPicPr>
          <p:cNvPr id="9" name="Picture 8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103120"/>
            <a:ext cx="4206240" cy="12293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96A8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F96A8"/>
                </a:solidFill>
                <a:latin typeface="Arial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02  »  КТО 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7182A"/>
                </a:solidFill>
                <a:latin typeface="Arial"/>
              </a:rPr>
              <a:t>Президент KgPMU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8F5F"/>
                </a:solidFill>
                <a:latin typeface="Arial"/>
              </a:rPr>
              <a:t>Мекишев Урмат Казбекович — сертифицированный эксперт IPMA Level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6858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Проектный менеджер и бизнес-аналитик с более чем 15-летним опытом в цифровизации, автоматизации и управлении проектами.
Обладатель международной сертификации IPMA Level B (Certified Senior Project Manager).
Руководил проектами цифровизации государственных систем, внедрения геоинформационных технологий и автоматизации бизнес-процессов.
Профессиональная деятельность отмечена благодарностями и наградами государственных органов и международных организаций.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920240"/>
            <a:ext cx="384048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1945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• GovTech и цифровые сервисы
• ГИС и открытые данные
• Автоматизация процессов
• Развитие стандартов IPMA в КР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03  »  О СТРАНЕ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7182A"/>
                </a:solidFill>
                <a:latin typeface="Arial"/>
              </a:rPr>
              <a:t>Кыргызская Республика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≈200 тыс. км²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Центральная Азия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≈7,4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население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ЕАЭС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единое пространство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19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WNG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19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Игры кочевников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51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»  Стратегическое положение: пересечение маршрутов ЕАЭС и Большого Шёлкового пути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9183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»  Соседи: Казахстан, Узбекистан, Таджикистан, Китай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»  Природа и культура: горная страна, кочевое наследие, гостеприимство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»  Всемирные игры кочевников — глобальная витрина культуры и soft power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1207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»  Цифровизация госуправления создаёт устойчивый спрос на P3M-компетенции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04  »  ЭКОНОМИКА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7182A"/>
                </a:solidFill>
                <a:latin typeface="Arial"/>
              </a:rPr>
              <a:t>Показатели и позиция в мире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661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82A"/>
                </a:solidFill>
                <a:latin typeface="Arial"/>
              </a:rPr>
              <a:t>≈11%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Рост реального ВВП в 2025
(оценки МВФ / ВБ)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554480"/>
            <a:ext cx="35661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828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82A"/>
                </a:solidFill>
                <a:latin typeface="Arial"/>
              </a:rPr>
              <a:t>≈$23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5176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Номинальный ВВП · рост
дохода на душу населения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554480"/>
            <a:ext cx="35661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28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82A"/>
                </a:solidFill>
                <a:latin typeface="Arial"/>
              </a:rPr>
              <a:t>Топ‑рост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5176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Один из лидеров по темпам
роста в 2021–2025 (МВФ)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35661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Строительство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Драйвер роста · инфраструктура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3931920"/>
            <a:ext cx="35661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416052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Цифровизация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7091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Таможня, налоги, госуслуги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931920"/>
            <a:ext cx="35661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16052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ГЭС / коридоры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7091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Крупные инфраструктурные инициативы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Источники: IMF Article IV 2026, World Bank — ориентиры для CoD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521208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8C"/>
                </a:solidFill>
                <a:latin typeface="Arial"/>
              </a:rPr>
              <a:t>05  »  МИССИЯ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Миссия KgPMU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Создать в Кыргызстане сообщество лидеров, способных реализовывать проекты мирового уровня — на стандартах IPMA и национальных ценностях.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9C0D0"/>
                </a:solidFill>
                <a:latin typeface="Arial"/>
              </a:rPr>
              <a:t>Повышаем зрелость управления проектами через образование, сертификацию и обмен практиками по ICB4. Формируем национальное сообщество и независимый орган сертификации 4‑L‑C. Интегрируем Кыргызстан в глобальную семью IPMA.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96A8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F96A8"/>
                </a:solidFill>
                <a:latin typeface="Arial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06  »  СТРАТЕГИЯ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7182A"/>
                </a:solidFill>
                <a:latin typeface="Arial"/>
              </a:rPr>
              <a:t>Спрос и стратегические цели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Спрос: Госуправление · Строительство · IT · Медицина и НПО · Инфраструктура · Цифровизация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87451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Перейти от Ассоциации-заявителя к Full Member Association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7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6887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Создать независимый национальный CB по системе IPMA 4-L-C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3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06323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Рост членской базы: индивидуальное, студенческое, корпоративное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576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Продвигать ICB4 / OCB / PEB в госсекторе и бизнесе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519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519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Партнёрства с вузами, госорганами и бизнес-сообществом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46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Сотрудничество с MA Центральной Азии и ЕАЭС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4406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4406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433"/>
                </a:solidFill>
                <a:latin typeface="Arial"/>
              </a:rPr>
              <a:t>Запустить Young Crew в Кыргызстане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07  »  ЭКОСИСТЕМА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7182A"/>
                </a:solidFill>
                <a:latin typeface="Arial"/>
              </a:rPr>
              <a:t>Экосистема и продвижение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Госсектор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Цифровые и инфраструктурные проекты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554480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8745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Бизнес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4688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Компании и подрядчики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49039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69079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Образование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3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Университеты Бишкека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3749039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069079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Обучение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466343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Подготовка к сертификации ICB4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08  »  РЕЗУЛЬТАТЫ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7182A"/>
                </a:solidFill>
                <a:latin typeface="Arial"/>
              </a:rPr>
              <a:t>Что уже сделано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320040" cy="320040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2821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91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Регистрация ОО «KgPMU» в Министерстве юстиции КР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88919"/>
            <a:ext cx="320040" cy="320040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25495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8891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Пакет документов направлен в IPMA · статус Ассоциации-заявителя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86200"/>
            <a:ext cx="320040" cy="320040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2277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Урмат Мекишев прошёл обучение и получил сертификат IPMA Level B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983480"/>
            <a:ext cx="320040" cy="320040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0200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983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С AzPMA: гибридное обучение — 4 сертификации (3 × Level C, 1 × Level 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521208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8C"/>
                </a:solidFill>
                <a:latin typeface="Arial"/>
              </a:rPr>
              <a:t>09  »  COUNCIL OF DELEGATES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Благодарим делегатов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Спасибо Совету делегатов IPMA за внимание к голосу Центральной Азии.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10789920" cy="1463040"/>
          </a:xfrm>
          <a:prstGeom prst="roundRect">
            <a:avLst/>
          </a:prstGeom>
          <a:solidFill>
            <a:srgbClr val="0F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7E8F0"/>
                </a:solidFill>
                <a:latin typeface="Arial"/>
              </a:rPr>
              <a:t>Просим поддержать KgPMU и своим голосом помочь включить Кыргызское объединение управления проектами в большую семью IPMA — как полноправного национального партнёра.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9C0D0"/>
                </a:solidFill>
                <a:latin typeface="Arial"/>
              </a:rPr>
              <a:t>Мы готовы сотрудничать, учиться у зрелых MA и делиться опытом emerging-рынка.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96A8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F96A8"/>
                </a:solidFill>
                <a:latin typeface="Arial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521208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2926080" cy="365760"/>
          </a:xfrm>
          <a:prstGeom prst="roundRect">
            <a:avLst/>
          </a:prstGeom>
          <a:solidFill>
            <a:srgbClr val="0F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8C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Ждём сотрудничества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7CBD8"/>
                </a:solidFill>
                <a:latin typeface="Arial"/>
              </a:rPr>
              <a:t>KgPMU · IPMA Kyrgyz Republic · Бишкек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DD68C"/>
                </a:solidFill>
                <a:latin typeface="Arial"/>
              </a:rPr>
              <a:t>info@ipma.kg
+996 555 655 755 · ipma.kg
Урмат Мекишев · Президент KgPMU</a:t>
            </a:r>
          </a:p>
        </p:txBody>
      </p:sp>
      <p:pic>
        <p:nvPicPr>
          <p:cNvPr id="9" name="Picture 8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114800" cy="1202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96A8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F96A8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