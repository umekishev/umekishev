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789920" y="512064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0" b="1">
                <a:solidFill>
                  <a:srgbClr val="E30613"/>
                </a:solidFill>
                <a:latin typeface="Arial"/>
              </a:rPr>
              <a:t>»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051560"/>
            <a:ext cx="3474720" cy="384048"/>
          </a:xfrm>
          <a:prstGeom prst="roundRect">
            <a:avLst/>
          </a:prstGeom>
          <a:solidFill>
            <a:srgbClr val="0F2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11556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DD68C"/>
                </a:solidFill>
                <a:latin typeface="Arial"/>
              </a:rPr>
              <a:t>COUNCIL OF DELEGATES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62179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Arial"/>
              </a:rPr>
              <a:t>IPMA
Kyrgyz
Republic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206240"/>
            <a:ext cx="5943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B7CBD8"/>
                </a:solidFill>
                <a:latin typeface="Arial"/>
              </a:rPr>
              <a:t>Кыргызское объединение управления проектами — Ассоциация-заявитель IPMA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21208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7F9AAB"/>
                </a:solidFill>
                <a:latin typeface="Arial"/>
              </a:rPr>
              <a:t>Урмат Мекишев · Президент KgPMU</a:t>
            </a:r>
          </a:p>
        </p:txBody>
      </p:sp>
      <p:pic>
        <p:nvPicPr>
          <p:cNvPr id="9" name="Picture 8" descr="ipma-kr-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2194560"/>
            <a:ext cx="4389120" cy="128282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F96A8"/>
                </a:solidFill>
                <a:latin typeface="Arial"/>
              </a:rPr>
              <a:t>IPMA Kyrgyz Republic  ·  ipma.kg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7F96A8"/>
                </a:solidFill>
                <a:latin typeface="Arial"/>
              </a:rPr>
              <a:t>01 /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8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pma-kr-em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38560" y="256032"/>
            <a:ext cx="505533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2004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F8F5F"/>
                </a:solidFill>
                <a:latin typeface="Arial"/>
              </a:rPr>
              <a:t>02  »  ВВЕДЕНИЕ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7182A"/>
                </a:solidFill>
                <a:latin typeface="Arial"/>
              </a:rPr>
              <a:t>Кто ведёт ассоциацию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554480"/>
            <a:ext cx="73152" cy="4023360"/>
          </a:xfrm>
          <a:prstGeom prst="rect">
            <a:avLst/>
          </a:prstGeom>
          <a:solidFill>
            <a:srgbClr val="E306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64592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F8F5F"/>
                </a:solidFill>
                <a:latin typeface="Arial"/>
              </a:rPr>
              <a:t>ПРЕЗИДЕНТ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01168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7182A"/>
                </a:solidFill>
                <a:latin typeface="Arial"/>
              </a:rPr>
              <a:t>Мекишев Урмат Казбекович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651760"/>
            <a:ext cx="4846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D5566"/>
                </a:solidFill>
                <a:latin typeface="Arial"/>
              </a:rPr>
              <a:t>Сертифицированный эксперт IPMA. Более 15 лет в управлении крупными инфраструктурными проектами. Инициатор внедрения ICB4 в госсекторе и бизнесе КР.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6344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22433"/>
                </a:solidFill>
                <a:latin typeface="Arial"/>
              </a:rPr>
              <a:t>«Создать в Кыргызстане профессиональное сообщество лидеров…»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1554480"/>
            <a:ext cx="73152" cy="4023360"/>
          </a:xfrm>
          <a:prstGeom prst="rect">
            <a:avLst/>
          </a:prstGeom>
          <a:solidFill>
            <a:srgbClr val="1F8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29400" y="164592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F8F5F"/>
                </a:solidFill>
                <a:latin typeface="Arial"/>
              </a:rPr>
              <a:t>ПОЧЁТНЫЙ ЧЛЕН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201168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7182A"/>
                </a:solidFill>
                <a:latin typeface="Arial"/>
              </a:rPr>
              <a:t>Бабаев Игбал Алиджанович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2651760"/>
            <a:ext cx="48463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D5566"/>
                </a:solidFill>
                <a:latin typeface="Arial"/>
              </a:rPr>
              <a:t>Д.т.н., профессор, президент Азербайджанской ассоциации УП. Поддерживает развитие проектной культуры в Кыргызстане и регионе.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AAFBD"/>
                </a:solidFill>
                <a:latin typeface="Arial"/>
              </a:rPr>
              <a:t>IPMA Kyrgyz Republic  ·  ipma.kg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2416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9AAFBD"/>
                </a:solidFill>
                <a:latin typeface="Arial"/>
              </a:rPr>
              <a:t>02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789920" y="512064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0" b="1">
                <a:solidFill>
                  <a:srgbClr val="E30613"/>
                </a:solidFill>
                <a:latin typeface="Arial"/>
              </a:rPr>
              <a:t>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DD68C"/>
                </a:solidFill>
                <a:latin typeface="Arial"/>
              </a:rPr>
              <a:t>03  »  МИССИЯ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5156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Arial"/>
              </a:rPr>
              <a:t>Экосистема компетентных проектных лидеров — через образование, сертификацию и практики IPMA ICB4.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663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A9C0D0"/>
                </a:solidFill>
                <a:latin typeface="Arial"/>
              </a:rPr>
              <a:t>Повышаем зрелость управления проектами государства и бизнеса в Кыргызстане.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F96A8"/>
                </a:solidFill>
                <a:latin typeface="Arial"/>
              </a:rPr>
              <a:t>IPMA Kyrgyz Republic  ·  ipma.kg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7F96A8"/>
                </a:solidFill>
                <a:latin typeface="Arial"/>
              </a:rPr>
              <a:t>03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8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pma-kr-em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38560" y="256032"/>
            <a:ext cx="505533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2004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F8F5F"/>
                </a:solidFill>
                <a:latin typeface="Arial"/>
              </a:rPr>
              <a:t>04  »  ЦЕННОСТИ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7182A"/>
                </a:solidFill>
                <a:latin typeface="Arial"/>
              </a:rPr>
              <a:t>На чём стоим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554480"/>
            <a:ext cx="5394960" cy="54864"/>
          </a:xfrm>
          <a:prstGeom prst="rect">
            <a:avLst/>
          </a:prstGeom>
          <a:solidFill>
            <a:srgbClr val="1F8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874520"/>
            <a:ext cx="5394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7182A"/>
                </a:solidFill>
                <a:latin typeface="Arial"/>
              </a:rPr>
              <a:t>Честность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423160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3D5566"/>
                </a:solidFill>
                <a:latin typeface="Arial"/>
              </a:rPr>
              <a:t>Прозрачность и этика в работе и оценке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59" y="1554480"/>
            <a:ext cx="5394960" cy="54864"/>
          </a:xfrm>
          <a:prstGeom prst="rect">
            <a:avLst/>
          </a:prstGeom>
          <a:solidFill>
            <a:srgbClr val="1F8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59" y="1874520"/>
            <a:ext cx="5394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7182A"/>
                </a:solidFill>
                <a:latin typeface="Arial"/>
              </a:rPr>
              <a:t>Ответственность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59" y="2423160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3D5566"/>
                </a:solidFill>
                <a:latin typeface="Arial"/>
              </a:rPr>
              <a:t>Профессионализм мирового уровня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749039"/>
            <a:ext cx="5394960" cy="54864"/>
          </a:xfrm>
          <a:prstGeom prst="rect">
            <a:avLst/>
          </a:prstGeom>
          <a:solidFill>
            <a:srgbClr val="1F8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4069079"/>
            <a:ext cx="5394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7182A"/>
                </a:solidFill>
                <a:latin typeface="Arial"/>
              </a:rPr>
              <a:t>Уважение и доверие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617719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3D5566"/>
                </a:solidFill>
                <a:latin typeface="Arial"/>
              </a:rPr>
              <a:t>Беспристрастность сертификации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9359" y="3749039"/>
            <a:ext cx="5394960" cy="54864"/>
          </a:xfrm>
          <a:prstGeom prst="rect">
            <a:avLst/>
          </a:prstGeom>
          <a:solidFill>
            <a:srgbClr val="1F8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59" y="4069079"/>
            <a:ext cx="5394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7182A"/>
                </a:solidFill>
                <a:latin typeface="Arial"/>
              </a:rPr>
              <a:t>Открытость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59" y="4617719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3D5566"/>
                </a:solidFill>
                <a:latin typeface="Arial"/>
              </a:rPr>
              <a:t>Международные практики на пользу КР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AAFBD"/>
                </a:solidFill>
                <a:latin typeface="Arial"/>
              </a:rPr>
              <a:t>IPMA Kyrgyz Republic  ·  ipma.kg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2416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9AAFBD"/>
                </a:solidFill>
                <a:latin typeface="Arial"/>
              </a:rPr>
              <a:t>04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8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pma-kr-em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38560" y="256032"/>
            <a:ext cx="505533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2004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F8F5F"/>
                </a:solidFill>
                <a:latin typeface="Arial"/>
              </a:rPr>
              <a:t>05  »  КОНТЕКСТ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7182A"/>
                </a:solidFill>
                <a:latin typeface="Arial"/>
              </a:rPr>
              <a:t>Кыргызстан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3D5566"/>
                </a:solidFill>
                <a:latin typeface="Arial"/>
              </a:rPr>
              <a:t>Центральная Азия — пересечение маршрутов ЕАЭС и Большого Шёлкового пути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94560"/>
            <a:ext cx="2651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7182A"/>
                </a:solidFill>
                <a:latin typeface="Arial"/>
              </a:rPr>
              <a:t>≈200k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01752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D5566"/>
                </a:solidFill>
                <a:latin typeface="Arial"/>
              </a:rPr>
              <a:t>км²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55848" y="2011680"/>
            <a:ext cx="18288" cy="1828800"/>
          </a:xfrm>
          <a:prstGeom prst="rect">
            <a:avLst/>
          </a:prstGeom>
          <a:solidFill>
            <a:srgbClr val="D0DC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29000" y="2194560"/>
            <a:ext cx="2651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7182A"/>
                </a:solidFill>
                <a:latin typeface="Arial"/>
              </a:rPr>
              <a:t>7,4 млн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29000" y="301752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D5566"/>
                </a:solidFill>
                <a:latin typeface="Arial"/>
              </a:rPr>
              <a:t>население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36207" y="2011680"/>
            <a:ext cx="18288" cy="1828800"/>
          </a:xfrm>
          <a:prstGeom prst="rect">
            <a:avLst/>
          </a:prstGeom>
          <a:solidFill>
            <a:srgbClr val="D0DC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59" y="2194560"/>
            <a:ext cx="2651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7182A"/>
                </a:solidFill>
                <a:latin typeface="Arial"/>
              </a:rPr>
              <a:t>Бишкек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59" y="301752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D5566"/>
                </a:solidFill>
                <a:latin typeface="Arial"/>
              </a:rPr>
              <a:t>штаб-квартира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16567" y="2011680"/>
            <a:ext cx="18288" cy="1828800"/>
          </a:xfrm>
          <a:prstGeom prst="rect">
            <a:avLst/>
          </a:prstGeom>
          <a:solidFill>
            <a:srgbClr val="D0DC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89719" y="2194560"/>
            <a:ext cx="2651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7182A"/>
                </a:solidFill>
                <a:latin typeface="Arial"/>
              </a:rPr>
              <a:t>ЕАЭС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89719" y="301752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D5566"/>
                </a:solidFill>
                <a:latin typeface="Arial"/>
              </a:rPr>
              <a:t>пространство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5720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F8F5F"/>
                </a:solidFill>
                <a:latin typeface="Arial"/>
              </a:rPr>
              <a:t>Госуправление · Инфраструктура · Цифровизация · Строительство · IT · Медицина и НПО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AAFBD"/>
                </a:solidFill>
                <a:latin typeface="Arial"/>
              </a:rPr>
              <a:t>IPMA Kyrgyz Republic  ·  ipma.kg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2416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9AAFBD"/>
                </a:solidFill>
                <a:latin typeface="Arial"/>
              </a:rPr>
              <a:t>05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8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pma-kr-em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38560" y="256032"/>
            <a:ext cx="505533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2004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F8F5F"/>
                </a:solidFill>
                <a:latin typeface="Arial"/>
              </a:rPr>
              <a:t>06  »  ПУТЬ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7182A"/>
                </a:solidFill>
                <a:latin typeface="Arial"/>
              </a:rPr>
              <a:t>Уже сделано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1691640"/>
            <a:ext cx="256032" cy="256032"/>
          </a:xfrm>
          <a:prstGeom prst="ellipse">
            <a:avLst/>
          </a:prstGeom>
          <a:solidFill>
            <a:srgbClr val="1F8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16459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F8F5F"/>
                </a:solidFill>
                <a:latin typeface="Arial"/>
              </a:rPr>
              <a:t>апр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164592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7182A"/>
                </a:solidFill>
                <a:latin typeface="Arial"/>
              </a:rPr>
              <a:t>Регистрация в Минюсте КР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2788920"/>
            <a:ext cx="256032" cy="256032"/>
          </a:xfrm>
          <a:prstGeom prst="ellipse">
            <a:avLst/>
          </a:prstGeom>
          <a:solidFill>
            <a:srgbClr val="1F8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432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F8F5F"/>
                </a:solidFill>
                <a:latin typeface="Arial"/>
              </a:rPr>
              <a:t>июн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74320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7182A"/>
                </a:solidFill>
                <a:latin typeface="Arial"/>
              </a:rPr>
              <a:t>Документы направлены в IPMA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3886200"/>
            <a:ext cx="256032" cy="256032"/>
          </a:xfrm>
          <a:prstGeom prst="ellipse">
            <a:avLst/>
          </a:prstGeom>
          <a:solidFill>
            <a:srgbClr val="1F8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88720" y="38404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F8F5F"/>
                </a:solidFill>
                <a:latin typeface="Arial"/>
              </a:rPr>
              <a:t>июл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0" y="38404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7182A"/>
                </a:solidFill>
                <a:latin typeface="Arial"/>
              </a:rPr>
              <a:t>Статус Ассоциация-заявитель</a:t>
            </a:r>
          </a:p>
        </p:txBody>
      </p:sp>
      <p:sp>
        <p:nvSpPr>
          <p:cNvPr id="16" name="Oval 15"/>
          <p:cNvSpPr/>
          <p:nvPr/>
        </p:nvSpPr>
        <p:spPr>
          <a:xfrm>
            <a:off x="640080" y="4983479"/>
            <a:ext cx="256032" cy="256032"/>
          </a:xfrm>
          <a:prstGeom prst="ellipse">
            <a:avLst/>
          </a:prstGeom>
          <a:solidFill>
            <a:srgbClr val="1F8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8720" y="4937759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F8F5F"/>
                </a:solidFill>
                <a:latin typeface="Arial"/>
              </a:rPr>
              <a:t>окт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4937759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7182A"/>
                </a:solidFill>
                <a:latin typeface="Arial"/>
              </a:rPr>
              <a:t>План: Full MA + сертификация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AAFBD"/>
                </a:solidFill>
                <a:latin typeface="Arial"/>
              </a:rPr>
              <a:t>IPMA Kyrgyz Republic  ·  ipma.kg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2416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9AAFBD"/>
                </a:solidFill>
                <a:latin typeface="Arial"/>
              </a:rPr>
              <a:t>06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8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pma-kr-em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38560" y="256032"/>
            <a:ext cx="505533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2004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F8F5F"/>
                </a:solidFill>
                <a:latin typeface="Arial"/>
              </a:rPr>
              <a:t>07  »  СТРАТЕГИЯ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7182A"/>
                </a:solidFill>
                <a:latin typeface="Arial"/>
              </a:rPr>
              <a:t>Куда идём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103120"/>
            <a:ext cx="10972800" cy="13716"/>
          </a:xfrm>
          <a:prstGeom prst="rect">
            <a:avLst/>
          </a:prstGeom>
          <a:solidFill>
            <a:srgbClr val="D0DC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41732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F8F5F"/>
                </a:solidFill>
                <a:latin typeface="Arial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22433"/>
                </a:solidFill>
                <a:latin typeface="Arial"/>
              </a:rPr>
              <a:t>Перейти от Ассоциации-заявителя к Full Member Association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926080"/>
            <a:ext cx="10972800" cy="13716"/>
          </a:xfrm>
          <a:prstGeom prst="rect">
            <a:avLst/>
          </a:prstGeom>
          <a:solidFill>
            <a:srgbClr val="D0DC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24028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F8F5F"/>
                </a:solidFill>
                <a:latin typeface="Arial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240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22433"/>
                </a:solidFill>
                <a:latin typeface="Arial"/>
              </a:rPr>
              <a:t>Создать независимый национальный CB по системе IPMA 4-L-C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749040"/>
            <a:ext cx="10972800" cy="13716"/>
          </a:xfrm>
          <a:prstGeom prst="rect">
            <a:avLst/>
          </a:prstGeom>
          <a:solidFill>
            <a:srgbClr val="D0DC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06324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F8F5F"/>
                </a:solidFill>
                <a:latin typeface="Arial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30632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22433"/>
                </a:solidFill>
                <a:latin typeface="Arial"/>
              </a:rPr>
              <a:t>Рост членской базы: индивидуальное, студенческое, корпоративное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4572000"/>
            <a:ext cx="10972800" cy="13716"/>
          </a:xfrm>
          <a:prstGeom prst="rect">
            <a:avLst/>
          </a:prstGeom>
          <a:solidFill>
            <a:srgbClr val="D0DC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388620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F8F5F"/>
                </a:solidFill>
                <a:latin typeface="Arial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86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22433"/>
                </a:solidFill>
                <a:latin typeface="Arial"/>
              </a:rPr>
              <a:t>Продвигать ICB4 / OCB / PEB в госсекторе и бизнесе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5394960"/>
            <a:ext cx="10972800" cy="13716"/>
          </a:xfrm>
          <a:prstGeom prst="rect">
            <a:avLst/>
          </a:prstGeom>
          <a:solidFill>
            <a:srgbClr val="D0DC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470916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F8F5F"/>
                </a:solidFill>
                <a:latin typeface="Arial"/>
              </a:rPr>
              <a:t>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4709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22433"/>
                </a:solidFill>
                <a:latin typeface="Arial"/>
              </a:rPr>
              <a:t>Партнёрства с вузами, госорганами, MA региона и Young Crew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AAFBD"/>
                </a:solidFill>
                <a:latin typeface="Arial"/>
              </a:rPr>
              <a:t>IPMA Kyrgyz Republic  ·  ipma.kg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2416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9AAFBD"/>
                </a:solidFill>
                <a:latin typeface="Arial"/>
              </a:rPr>
              <a:t>07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8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pma-kr-em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38560" y="256032"/>
            <a:ext cx="505533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2004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F8F5F"/>
                </a:solidFill>
                <a:latin typeface="Arial"/>
              </a:rPr>
              <a:t>08  »  СЕРТИФИКАЦИЯ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7182A"/>
                </a:solidFill>
                <a:latin typeface="Arial"/>
              </a:rPr>
              <a:t>Уровни IPMA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3D5566"/>
                </a:solidFill>
                <a:latin typeface="Arial"/>
              </a:rPr>
              <a:t>Независимый CB · оценка по ICB4 · самооценка, экзамен, интервью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94560"/>
            <a:ext cx="2651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600" b="1">
                <a:solidFill>
                  <a:srgbClr val="1F8F5F"/>
                </a:solidFill>
                <a:latin typeface="Arial"/>
              </a:rPr>
              <a:t>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3832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7182A"/>
                </a:solidFill>
                <a:latin typeface="Arial"/>
              </a:rPr>
              <a:t>Projects Director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02336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D5566"/>
                </a:solidFill>
                <a:latin typeface="Arial"/>
              </a:rPr>
              <a:t>Портфели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29000" y="2194560"/>
            <a:ext cx="2651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600" b="1">
                <a:solidFill>
                  <a:srgbClr val="1F8F5F"/>
                </a:solidFill>
                <a:latin typeface="Arial"/>
              </a:rPr>
              <a:t>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29000" y="33832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7182A"/>
                </a:solidFill>
                <a:latin typeface="Arial"/>
              </a:rPr>
              <a:t>Senior Project Manager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29000" y="402336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D5566"/>
                </a:solidFill>
                <a:latin typeface="Arial"/>
              </a:rPr>
              <a:t>Сложные проекты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59" y="2194560"/>
            <a:ext cx="2651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600" b="1">
                <a:solidFill>
                  <a:srgbClr val="1F8F5F"/>
                </a:solidFill>
                <a:latin typeface="Arial"/>
              </a:rPr>
              <a:t>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59" y="33832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7182A"/>
                </a:solidFill>
                <a:latin typeface="Arial"/>
              </a:rPr>
              <a:t>Project Manager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402336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D5566"/>
                </a:solidFill>
                <a:latin typeface="Arial"/>
              </a:rPr>
              <a:t>Средняя сложность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89719" y="2194560"/>
            <a:ext cx="2651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600" b="1">
                <a:solidFill>
                  <a:srgbClr val="1F8F5F"/>
                </a:solidFill>
                <a:latin typeface="Arial"/>
              </a:rPr>
              <a:t>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89719" y="33832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7182A"/>
                </a:solidFill>
                <a:latin typeface="Arial"/>
              </a:rPr>
              <a:t>PM Associate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89719" y="402336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D5566"/>
                </a:solidFill>
                <a:latin typeface="Arial"/>
              </a:rPr>
              <a:t>Базовый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AAFBD"/>
                </a:solidFill>
                <a:latin typeface="Arial"/>
              </a:rPr>
              <a:t>IPMA Kyrgyz Republic  ·  ipma.kg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2416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9AAFBD"/>
                </a:solidFill>
                <a:latin typeface="Arial"/>
              </a:rPr>
              <a:t>08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8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pma-kr-em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38560" y="256032"/>
            <a:ext cx="505533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2004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F8F5F"/>
                </a:solidFill>
                <a:latin typeface="Arial"/>
              </a:rPr>
              <a:t>09  »  ЧЛЕНСТВО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7182A"/>
                </a:solidFill>
                <a:latin typeface="Arial"/>
              </a:rPr>
              <a:t>Рост сообщества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560320"/>
            <a:ext cx="10972800" cy="13716"/>
          </a:xfrm>
          <a:prstGeom prst="rect">
            <a:avLst/>
          </a:prstGeom>
          <a:solidFill>
            <a:srgbClr val="D0DC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55448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8F5F"/>
                </a:solidFill>
                <a:latin typeface="Arial"/>
              </a:rPr>
              <a:t>2027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0" y="169164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22433"/>
                </a:solidFill>
                <a:latin typeface="Arial"/>
              </a:rPr>
              <a:t>15–20 индивидуальных членов, студенческий трек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794760"/>
            <a:ext cx="10972800" cy="13716"/>
          </a:xfrm>
          <a:prstGeom prst="rect">
            <a:avLst/>
          </a:prstGeom>
          <a:solidFill>
            <a:srgbClr val="D0DC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78892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8F5F"/>
                </a:solidFill>
                <a:latin typeface="Arial"/>
              </a:rPr>
              <a:t>2028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292608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22433"/>
                </a:solidFill>
                <a:latin typeface="Arial"/>
              </a:rPr>
              <a:t>50+ членов, первые корпоративные партнёры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5029200"/>
            <a:ext cx="10972800" cy="13716"/>
          </a:xfrm>
          <a:prstGeom prst="rect">
            <a:avLst/>
          </a:prstGeom>
          <a:solidFill>
            <a:srgbClr val="D0DC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402336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8F5F"/>
                </a:solidFill>
                <a:latin typeface="Arial"/>
              </a:rPr>
              <a:t>2029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416052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22433"/>
                </a:solidFill>
                <a:latin typeface="Arial"/>
              </a:rPr>
              <a:t>100+ членов, устойчивый рост сертификации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3949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F8F5F"/>
                </a:solidFill>
                <a:latin typeface="Arial"/>
              </a:rPr>
              <a:t>Индивидуальное  ·  Студенческое  ·  Корпоративное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AAFBD"/>
                </a:solidFill>
                <a:latin typeface="Arial"/>
              </a:rPr>
              <a:t>IPMA Kyrgyz Republic  ·  ipma.kg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2416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9AAFBD"/>
                </a:solidFill>
                <a:latin typeface="Arial"/>
              </a:rPr>
              <a:t>09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8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pma-kr-em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38560" y="256032"/>
            <a:ext cx="505533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2004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F8F5F"/>
                </a:solidFill>
                <a:latin typeface="Arial"/>
              </a:rPr>
              <a:t>10  »  ЭКОСИСТЕМА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7182A"/>
                </a:solidFill>
                <a:latin typeface="Arial"/>
              </a:rPr>
              <a:t>С кем строим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554480"/>
            <a:ext cx="5394960" cy="54864"/>
          </a:xfrm>
          <a:prstGeom prst="rect">
            <a:avLst/>
          </a:prstGeom>
          <a:solidFill>
            <a:srgbClr val="1F8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874520"/>
            <a:ext cx="5394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7182A"/>
                </a:solidFill>
                <a:latin typeface="Arial"/>
              </a:rPr>
              <a:t>Госсектор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423160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3D5566"/>
                </a:solidFill>
                <a:latin typeface="Arial"/>
              </a:rPr>
              <a:t>Цифровые и инфраструктурные проекты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59" y="1554480"/>
            <a:ext cx="5394960" cy="54864"/>
          </a:xfrm>
          <a:prstGeom prst="rect">
            <a:avLst/>
          </a:prstGeom>
          <a:solidFill>
            <a:srgbClr val="1F8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59" y="1874520"/>
            <a:ext cx="5394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7182A"/>
                </a:solidFill>
                <a:latin typeface="Arial"/>
              </a:rPr>
              <a:t>Бизнес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59" y="2423160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3D5566"/>
                </a:solidFill>
                <a:latin typeface="Arial"/>
              </a:rPr>
              <a:t>Компании и подрядчики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749039"/>
            <a:ext cx="5394960" cy="54864"/>
          </a:xfrm>
          <a:prstGeom prst="rect">
            <a:avLst/>
          </a:prstGeom>
          <a:solidFill>
            <a:srgbClr val="1F8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4069079"/>
            <a:ext cx="5394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7182A"/>
                </a:solidFill>
                <a:latin typeface="Arial"/>
              </a:rPr>
              <a:t>Образование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617719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3D5566"/>
                </a:solidFill>
                <a:latin typeface="Arial"/>
              </a:rPr>
              <a:t>Университеты Бишкека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9359" y="3749039"/>
            <a:ext cx="5394960" cy="54864"/>
          </a:xfrm>
          <a:prstGeom prst="rect">
            <a:avLst/>
          </a:prstGeom>
          <a:solidFill>
            <a:srgbClr val="1F8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59" y="4069079"/>
            <a:ext cx="5394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7182A"/>
                </a:solidFill>
                <a:latin typeface="Arial"/>
              </a:rPr>
              <a:t>Обучение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59" y="4617719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3D5566"/>
                </a:solidFill>
                <a:latin typeface="Arial"/>
              </a:rPr>
              <a:t>Подготовка к сертификации ICB4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AAFBD"/>
                </a:solidFill>
                <a:latin typeface="Arial"/>
              </a:rPr>
              <a:t>IPMA Kyrgyz Republic  ·  ipma.kg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2416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9AAFBD"/>
                </a:solidFill>
                <a:latin typeface="Arial"/>
              </a:rPr>
              <a:t>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8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pma-kr-em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38560" y="256032"/>
            <a:ext cx="505533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2004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F8F5F"/>
                </a:solidFill>
                <a:latin typeface="Arial"/>
              </a:rPr>
              <a:t>11  »  МОЛОДЁЖЬ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7182A"/>
                </a:solidFill>
                <a:latin typeface="Arial"/>
              </a:rPr>
              <a:t>Young Crew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E30613"/>
                </a:solidFill>
                <a:latin typeface="Arial"/>
              </a:rPr>
              <a:t>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141732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22433"/>
                </a:solidFill>
                <a:latin typeface="Arial"/>
              </a:rPr>
              <a:t>Знакомить молодёжь со стандартами и ценностями IPMA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10312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E30613"/>
                </a:solidFill>
                <a:latin typeface="Arial"/>
              </a:rPr>
              <a:t>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10312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22433"/>
                </a:solidFill>
                <a:latin typeface="Arial"/>
              </a:rPr>
              <a:t>Привлекать студентов через студенческое членство KgPMU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78892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E30613"/>
                </a:solidFill>
                <a:latin typeface="Arial"/>
              </a:rPr>
              <a:t>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78892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22433"/>
                </a:solidFill>
                <a:latin typeface="Arial"/>
              </a:rPr>
              <a:t>Интегрировать ICB4 в образовательные программы вузов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47472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E30613"/>
                </a:solidFill>
                <a:latin typeface="Arial"/>
              </a:rPr>
              <a:t>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347472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22433"/>
                </a:solidFill>
                <a:latin typeface="Arial"/>
              </a:rPr>
              <a:t>Путь к сертификации IPMA Level 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16052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E30613"/>
                </a:solidFill>
                <a:latin typeface="Arial"/>
              </a:rPr>
              <a:t>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416052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22433"/>
                </a:solidFill>
                <a:latin typeface="Arial"/>
              </a:rPr>
              <a:t>Участие в международных форумах Young Crew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120640"/>
            <a:ext cx="11064240" cy="685800"/>
          </a:xfrm>
          <a:prstGeom prst="roundRect">
            <a:avLst/>
          </a:prstGeom>
          <a:solidFill>
            <a:srgbClr val="0718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528523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Поддержка будущего профессии P3M в Кыргызстане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AAFBD"/>
                </a:solidFill>
                <a:latin typeface="Arial"/>
              </a:rPr>
              <a:t>IPMA Kyrgyz Republic  ·  ipma.kg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2416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9AAFBD"/>
                </a:solidFill>
                <a:latin typeface="Arial"/>
              </a:rPr>
              <a:t>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789920" y="512064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0" b="1">
                <a:solidFill>
                  <a:srgbClr val="E30613"/>
                </a:solidFill>
                <a:latin typeface="Arial"/>
              </a:rPr>
              <a:t>»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051560"/>
            <a:ext cx="2011680" cy="384048"/>
          </a:xfrm>
          <a:prstGeom prst="roundRect">
            <a:avLst/>
          </a:prstGeom>
          <a:solidFill>
            <a:srgbClr val="0F2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11556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DD68C"/>
                </a:solidFill>
                <a:latin typeface="Arial"/>
              </a:rPr>
              <a:t>СПАСИБО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6400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Приглашаем
к сотрудничеству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474720"/>
            <a:ext cx="5943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7CBD8"/>
                </a:solidFill>
                <a:latin typeface="Arial"/>
              </a:rPr>
              <a:t>Уже Ассоциация-заявитель. Следующий шаг — Full MA, сертификация и голос Центральной Азии в семье IPMA.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663440"/>
            <a:ext cx="5943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3DD68C"/>
                </a:solidFill>
                <a:latin typeface="Arial"/>
              </a:rPr>
              <a:t>info@ipma.kg
+996 555 655 755 · ipma.kg
Урмат Мекишев · Президент · Бишкек</a:t>
            </a:r>
          </a:p>
        </p:txBody>
      </p:sp>
      <p:pic>
        <p:nvPicPr>
          <p:cNvPr id="9" name="Picture 8" descr="ipma-kr-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2286000"/>
            <a:ext cx="4114800" cy="120264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F96A8"/>
                </a:solidFill>
                <a:latin typeface="Arial"/>
              </a:rPr>
              <a:t>IPMA Kyrgyz Republic  ·  ipma.kg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7F96A8"/>
                </a:solidFill>
                <a:latin typeface="Arial"/>
              </a:rPr>
              <a:t>12 /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