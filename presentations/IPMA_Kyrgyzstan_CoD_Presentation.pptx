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377440" cy="347472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COUNCIL OF DELEGATES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22033"/>
                </a:solidFill>
                <a:latin typeface="Calibri"/>
              </a:rPr>
              <a:t>Кыргызское объединение управления проектами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A6074"/>
                </a:solidFill>
                <a:latin typeface="Calibri"/>
              </a:rPr>
              <a:t>ОО «KgPMU» · Kyrgyz Project Management Union · ipma.kg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7A8FA3"/>
                </a:solidFill>
                <a:latin typeface="Calibri"/>
              </a:rPr>
              <a:t>Представляет: Урмат Мекишев, Президент KgPMU</a:t>
            </a:r>
          </a:p>
        </p:txBody>
      </p:sp>
      <p:pic>
        <p:nvPicPr>
          <p:cNvPr id="9" name="Picture 8" descr="ipma-kr-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1122473"/>
          </a:xfrm>
          <a:prstGeom prst="rect">
            <a:avLst/>
          </a:prstGeom>
        </p:spPr>
      </p:pic>
      <p:pic>
        <p:nvPicPr>
          <p:cNvPr id="10" name="Picture 9" descr="ipma-kr-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IPMA Kyrgyz Republic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02  »  КТО 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Президент KgPMU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МЕКИШЕВ УРМАТ КАЗБЕКОВИЧ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22033"/>
                </a:solidFill>
                <a:latin typeface="Calibri"/>
              </a:rPr>
              <a:t>Президент KgPMU · сертифицированный эксперт IPMA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6074"/>
                </a:solidFill>
                <a:latin typeface="Calibri"/>
              </a:rPr>
              <a:t>Проектный менеджер и бизнес-аналитик с более чем 15-летним опытом в цифровизации, автоматизации и управлении проектами. Обладатель международной сертификации IPMA Level B (Certified Senior Project Manager).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4A6074"/>
                </a:solidFill>
                <a:latin typeface="Calibri"/>
              </a:rPr>
              <a:t>Руководил проектами цифровизации государственных систем, внедрения геоинформационных технологий и автоматизации бизнес-процессов — в том числе в сфере таможенных и муниципальных цифровых сервисов.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4206240" cy="320040"/>
          </a:xfrm>
          <a:prstGeom prst="roundRect">
            <a:avLst/>
          </a:prstGeom>
          <a:solidFill>
            <a:srgbClr val="FB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62739"/>
                </a:solidFill>
                <a:latin typeface="Calibri"/>
              </a:rPr>
              <a:t>IPMA Level B · GovTech · 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737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Государственные проекты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Цифровизация и автоматизация сервисов госсектора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514600"/>
            <a:ext cx="393192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6974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Геоинформационные решения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Проекты цифровой инвентаризации и открытых данных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474720"/>
            <a:ext cx="393192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6576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Признание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Благодарности и награды госорганов и международных организаций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4434840"/>
            <a:ext cx="393192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6177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Сообщество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Развитие профессиональных стандартов IPMA в Кыргызстане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5394959"/>
            <a:ext cx="393192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IPMA Kyrgyz Republic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03  »  О СТРАНЕ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Кыргызская Республика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A6074"/>
                </a:solidFill>
                <a:latin typeface="Calibri"/>
              </a:rPr>
              <a:t>Стратегическое положение, природа, культура и цифровая повестка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2033"/>
                </a:solidFill>
                <a:latin typeface="Calibri"/>
              </a:rPr>
              <a:t>≈200 тыс.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>
                <a:solidFill>
                  <a:srgbClr val="4A6074"/>
                </a:solidFill>
                <a:latin typeface="Calibri"/>
              </a:rPr>
              <a:t>км² · сердце Центральной Азии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2468880" cy="13716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945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2033"/>
                </a:solidFill>
                <a:latin typeface="Calibri"/>
              </a:rPr>
              <a:t>≈7,4 млн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>
                <a:solidFill>
                  <a:srgbClr val="4A6074"/>
                </a:solidFill>
                <a:latin typeface="Calibri"/>
              </a:rPr>
              <a:t>население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48840"/>
            <a:ext cx="2468880" cy="13716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2033"/>
                </a:solidFill>
                <a:latin typeface="Calibri"/>
              </a:rPr>
              <a:t>ЕАЭС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>
                <a:solidFill>
                  <a:srgbClr val="4A6074"/>
                </a:solidFill>
                <a:latin typeface="Calibri"/>
              </a:rPr>
              <a:t>единое экономическое пространство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2468880" cy="13716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1945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2033"/>
                </a:solidFill>
                <a:latin typeface="Calibri"/>
              </a:rPr>
              <a:t>WNG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>
                <a:solidFill>
                  <a:srgbClr val="4A6074"/>
                </a:solidFill>
                <a:latin typeface="Calibri"/>
              </a:rPr>
              <a:t>Всемирные игры кочевников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148840"/>
            <a:ext cx="2468880" cy="13716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Стратегическое положение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Пересечение маршрутов ЕАЭС и Большого Шёлкового пути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Всемирные игры кочевников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Глобальная витрина культуры и soft power Кыргызстана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Соседи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Казахстан, Узбекистан, Таджикистан, Китай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Цифровизация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Госуслуги, таможня, реестры — устойчивый спрос на P3M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Природа и культура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Горная страна, кочевое наследие, гостеприимство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206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2033"/>
                </a:solidFill>
                <a:latin typeface="Calibri"/>
              </a:rPr>
              <a:t>Возможность для IPMA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Растущая потребность в компетентных руководителях проектов</a:t>
            </a:r>
          </a:p>
        </p:txBody>
      </p:sp>
      <p:pic>
        <p:nvPicPr>
          <p:cNvPr id="22" name="Picture 21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IPMA Kyrgyz Republic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04  »  ЭКОНОМИКА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Показатели и позиция в мире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A6074"/>
                </a:solidFill>
                <a:latin typeface="Calibri"/>
              </a:rPr>
              <a:t>Один из самых быстрорастущих рынков региона — с активной стройкой, сервисами и цифровой повесткой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200400" cy="36576"/>
          </a:xfrm>
          <a:prstGeom prst="rect">
            <a:avLst/>
          </a:prstGeom>
          <a:solidFill>
            <a:srgbClr val="E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≈11%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Рост реального ВВП в 2025 (оценки МВФ / Всемирного банка)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200400" cy="36576"/>
          </a:xfrm>
          <a:prstGeom prst="rect">
            <a:avLst/>
          </a:prstGeom>
          <a:solidFill>
            <a:srgbClr val="D4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≈$23 млрд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Номинальный ВВП · рост ВВП на душу населения в последние годы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2286000"/>
            <a:ext cx="3200400" cy="36576"/>
          </a:xfrm>
          <a:prstGeom prst="rect">
            <a:avLst/>
          </a:prstGeom>
          <a:solidFill>
            <a:srgbClr val="1F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4231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Топ‑рост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Среди лидеров по темпам роста в 2021–2025 (оценка МВФ)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3200400" cy="36576"/>
          </a:xfrm>
          <a:prstGeom prst="rect">
            <a:avLst/>
          </a:prstGeom>
          <a:solidFill>
            <a:srgbClr val="E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Строительство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Один из драйверов роста · инфраструктура и инвестиции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840480"/>
            <a:ext cx="3200400" cy="36576"/>
          </a:xfrm>
          <a:prstGeom prst="rect">
            <a:avLst/>
          </a:prstGeom>
          <a:solidFill>
            <a:srgbClr val="D4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977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Цифра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Налоги, таможня, госуслуги · цифровая инфраструктура и AI-повестка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3840480"/>
            <a:ext cx="3200400" cy="36576"/>
          </a:xfrm>
          <a:prstGeom prst="rect">
            <a:avLst/>
          </a:prstGeom>
          <a:solidFill>
            <a:srgbClr val="1F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3977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ГЭС / коридоры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>
                <a:solidFill>
                  <a:srgbClr val="4A6074"/>
                </a:solidFill>
                <a:latin typeface="Calibri"/>
              </a:rPr>
              <a:t>Крупные инфраструктурные инициативы и региональная связанность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A8FA3"/>
                </a:solidFill>
                <a:latin typeface="Calibri"/>
              </a:rPr>
              <a:t>Источники: IMF Article IV (2026), World Bank Kyrgyz Republic overview — округлённые ориентиры для CoD.</a:t>
            </a:r>
          </a:p>
        </p:txBody>
      </p:sp>
      <p:pic>
        <p:nvPicPr>
          <p:cNvPr id="21" name="Picture 20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IPMA Kyrgyz Republic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05  »  МИССИЯ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Миссия KgPMU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Создать в Кыргызстане сообщество лидеров, способных реализовывать проекты мирового уровня — на стандартах IPMA и национальных ценностях.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A6074"/>
                </a:solidFill>
                <a:latin typeface="Calibri"/>
              </a:rPr>
              <a:t>Повышаем зрелость управления проектами через образование, сертификацию и обмен практиками по ICB4. Формируем национальное сообщество и независимый орган сертификации 4‑L‑C. Интегрируем Кыргызстан в глобальную семью IPMA.</a:t>
            </a:r>
          </a:p>
        </p:txBody>
      </p:sp>
      <p:pic>
        <p:nvPicPr>
          <p:cNvPr id="9" name="Picture 8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По уставу / ipma.kg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06  »  СТРАТЕГИЯ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Спрос и цели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СПРОС НА P3M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118104" cy="292608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Госуправление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95344" y="2148840"/>
            <a:ext cx="3118104" cy="292608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Строительство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32888"/>
            <a:ext cx="905256" cy="292608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495" y="2532888"/>
            <a:ext cx="3319272" cy="292608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Медицина и НПО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7" y="2532888"/>
            <a:ext cx="3319272" cy="292608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16936"/>
            <a:ext cx="2916936" cy="292608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Цифровизация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6074"/>
                </a:solidFill>
                <a:latin typeface="Calibri"/>
              </a:rPr>
              <a:t>Масштабные госпрограммы и donor/corporate проекты требуют сертифицированных компетенций и общего «языка» IPMA.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СТРАТЕГИЧЕСКИЕ ЦЕЛИ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62739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48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6074"/>
                </a:solidFill>
                <a:latin typeface="Calibri"/>
              </a:rPr>
              <a:t>Перейти от Ассоциации-заявителя к Full Member Association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651760"/>
            <a:ext cx="502920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62739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43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6074"/>
                </a:solidFill>
                <a:latin typeface="Calibri"/>
              </a:rPr>
              <a:t>Создать независимый CB по системе IPMA 4‑L‑C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502920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62739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337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6074"/>
                </a:solidFill>
                <a:latin typeface="Calibri"/>
              </a:rPr>
              <a:t>Рост членства: индивидуальное, студенческое, корпоративное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840480"/>
            <a:ext cx="502920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319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62739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31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6074"/>
                </a:solidFill>
                <a:latin typeface="Calibri"/>
              </a:rPr>
              <a:t>Продвигать ICB4 / OCB / PEB в госсекторе и бизнесе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434840"/>
            <a:ext cx="502920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526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62739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26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6074"/>
                </a:solidFill>
                <a:latin typeface="Calibri"/>
              </a:rPr>
              <a:t>Партнёрства с вузами, госорганами и бизнесом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029200"/>
            <a:ext cx="502920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62739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120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6074"/>
                </a:solidFill>
                <a:latin typeface="Calibri"/>
              </a:rPr>
              <a:t>Сотрудничество с MA ЦА и ЕАЭС · запуск Young Crew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623560"/>
            <a:ext cx="5029200" cy="9144"/>
          </a:xfrm>
          <a:prstGeom prst="rect">
            <a:avLst/>
          </a:prstGeom>
          <a:solidFill>
            <a:srgbClr val="D0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IPMA Kyrgyz Republic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07  »  ЭКОСИСТЕМА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Экосистема и продвижение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4754880" cy="41148"/>
          </a:xfrm>
          <a:prstGeom prst="rect">
            <a:avLst/>
          </a:prstGeom>
          <a:solidFill>
            <a:srgbClr val="E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Calibri"/>
              </a:rPr>
              <a:t>Госсектор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4A6074"/>
                </a:solidFill>
                <a:latin typeface="Calibri"/>
              </a:rPr>
              <a:t>Цифровые и инфраструктурные проекты министерств и ведомств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754880" cy="41148"/>
          </a:xfrm>
          <a:prstGeom prst="rect">
            <a:avLst/>
          </a:prstGeom>
          <a:solidFill>
            <a:srgbClr val="D4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Calibri"/>
              </a:rPr>
              <a:t>Бизнес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4A6074"/>
                </a:solidFill>
                <a:latin typeface="Calibri"/>
              </a:rPr>
              <a:t>Компании и подрядчики, реализующие проекты и программы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4754880" cy="41148"/>
          </a:xfrm>
          <a:prstGeom prst="rect">
            <a:avLst/>
          </a:prstGeom>
          <a:solidFill>
            <a:srgbClr val="1F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Calibri"/>
              </a:rPr>
              <a:t>Образование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4A6074"/>
                </a:solidFill>
                <a:latin typeface="Calibri"/>
              </a:rPr>
              <a:t>Университеты Бишкека — источник молодых кадров и Young Crew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4754880" cy="41148"/>
          </a:xfrm>
          <a:prstGeom prst="rect">
            <a:avLst/>
          </a:prstGeom>
          <a:solidFill>
            <a:srgbClr val="F06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Calibri"/>
              </a:rPr>
              <a:t>Обучение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4A6074"/>
                </a:solidFill>
                <a:latin typeface="Calibri"/>
              </a:rPr>
              <a:t>Подготовка к сертификации ICB4 и развитие провайдеров</a:t>
            </a:r>
          </a:p>
        </p:txBody>
      </p:sp>
      <p:pic>
        <p:nvPicPr>
          <p:cNvPr id="15" name="Picture 14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IPMA Kyrgyz Republic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08  »  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Что уже сделано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36576" cy="3657600"/>
          </a:xfrm>
          <a:prstGeom prst="rect">
            <a:avLst/>
          </a:prstGeom>
          <a:solidFill>
            <a:srgbClr val="E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2039112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2033"/>
                </a:solidFill>
                <a:latin typeface="Calibri"/>
              </a:rPr>
              <a:t>Регистрация ОО «KgPMU»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00" b="0">
                <a:solidFill>
                  <a:srgbClr val="4A6074"/>
                </a:solidFill>
                <a:latin typeface="Calibri"/>
              </a:rPr>
              <a:t>Официальная регистрация в Министерстве юстиции Кыргызской Республики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999232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2033"/>
                </a:solidFill>
                <a:latin typeface="Calibri"/>
              </a:rPr>
              <a:t>Пакет документов в IPMA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00" b="0">
                <a:solidFill>
                  <a:srgbClr val="4A6074"/>
                </a:solidFill>
                <a:latin typeface="Calibri"/>
              </a:rPr>
              <a:t>Заявка направлена в штаб-квартиру IPMA · статус Ассоциации-заявителя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959352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886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2033"/>
                </a:solidFill>
                <a:latin typeface="Calibri"/>
              </a:rPr>
              <a:t>Сертификация руководителя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00" b="0">
                <a:solidFill>
                  <a:srgbClr val="4A6074"/>
                </a:solidFill>
                <a:latin typeface="Calibri"/>
              </a:rPr>
              <a:t>Урмат Мекишев прошёл обучение и получил сертификат IPMA Level B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919472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846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2033"/>
                </a:solidFill>
                <a:latin typeface="Calibri"/>
              </a:rPr>
              <a:t>Совместное обучение с AzPMA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00" b="0">
                <a:solidFill>
                  <a:srgbClr val="4A6074"/>
                </a:solidFill>
                <a:latin typeface="Calibri"/>
              </a:rPr>
              <a:t>Гибридная программа: 4 студента успешно сертифицированы — 3 × Level C и 1 × Level B</a:t>
            </a:r>
          </a:p>
        </p:txBody>
      </p:sp>
      <p:pic>
        <p:nvPicPr>
          <p:cNvPr id="16" name="Picture 15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KgPMU × AzPMA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2739"/>
                </a:solidFill>
                <a:latin typeface="Calibri"/>
              </a:rPr>
              <a:t>09  »  COUNCIL OF DELEGATES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3"/>
                </a:solidFill>
                <a:latin typeface="Calibri"/>
              </a:rPr>
              <a:t>Благодарим делегатов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2033"/>
                </a:solidFill>
                <a:latin typeface="Calibri"/>
              </a:rPr>
              <a:t>Спасибо Совету делегатов IPMA за внимание к голосу Центральной Азии.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105156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1400" b="0">
                <a:solidFill>
                  <a:srgbClr val="122033"/>
                </a:solidFill>
                <a:latin typeface="Calibri"/>
              </a:rPr>
              <a:t>Просим поддержать KgPMU и своим голосом помочь включить Кыргызское объединение управления проектами в большую семью IPMA — как полноправного национального партнёра.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A6074"/>
                </a:solidFill>
                <a:latin typeface="Calibri"/>
              </a:rPr>
              <a:t>Мы готовы сотрудничать, учиться у зрелых MA и делиться опытом emerging-рынка.</a:t>
            </a:r>
          </a:p>
        </p:txBody>
      </p:sp>
      <p:pic>
        <p:nvPicPr>
          <p:cNvPr id="10" name="Picture 9" descr="ipma-kr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Support KgPMU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4114800"/>
          </a:xfrm>
          <a:prstGeom prst="ellipse">
            <a:avLst/>
          </a:prstGeom>
          <a:solidFill>
            <a:srgbClr val="DCE6F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3657600"/>
          </a:xfrm>
          <a:prstGeom prst="ellipse">
            <a:avLst/>
          </a:prstGeom>
          <a:solidFill>
            <a:srgbClr val="E3EBF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286000" cy="347472"/>
          </a:xfrm>
          <a:prstGeom prst="roundRect">
            <a:avLst/>
          </a:prstGeom>
          <a:solidFill>
            <a:srgbClr val="FBE6E9"/>
          </a:solidFill>
          <a:ln>
            <a:solidFill>
              <a:srgbClr val="F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62739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22033"/>
                </a:solidFill>
                <a:latin typeface="Calibri"/>
              </a:rPr>
              <a:t>Ждём сотрудничества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A6074"/>
                </a:solidFill>
                <a:latin typeface="Calibri"/>
              </a:rPr>
              <a:t>KgPMU · IPMA Kyrgyz Republic · Бишкек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62739"/>
                </a:solidFill>
                <a:latin typeface="Calibri"/>
              </a:rPr>
              <a:t>info@ipma.kg    ·    +996 555 655 755    ·    ipma.kg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7A8FA3"/>
                </a:solidFill>
                <a:latin typeface="Calibri"/>
              </a:rPr>
              <a:t>Урмат Мекишев · Президент KgPMU</a:t>
            </a:r>
          </a:p>
        </p:txBody>
      </p:sp>
      <p:pic>
        <p:nvPicPr>
          <p:cNvPr id="10" name="Picture 9" descr="ipma-kr-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3840480" cy="1122473"/>
          </a:xfrm>
          <a:prstGeom prst="rect">
            <a:avLst/>
          </a:prstGeom>
        </p:spPr>
      </p:pic>
      <p:pic>
        <p:nvPicPr>
          <p:cNvPr id="11" name="Picture 10" descr="ipma-kr-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5736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A8FA3"/>
                </a:solidFill>
                <a:latin typeface="Calibri"/>
              </a:rPr>
              <a:t>IPMA Kyrgyz Republic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A8FA3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